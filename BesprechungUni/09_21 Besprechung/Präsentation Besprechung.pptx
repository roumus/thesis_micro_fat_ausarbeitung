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video/unknown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2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3.xml" ContentType="application/vnd.openxmlformats-officedocument.presentationml.notesSl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3"/>
  </p:sldMasterIdLst>
  <p:notesMasterIdLst>
    <p:notesMasterId r:id="rId14"/>
  </p:notesMasterIdLst>
  <p:sldIdLst>
    <p:sldId id="256" r:id="rId4"/>
    <p:sldId id="257" r:id="rId5"/>
    <p:sldId id="258" r:id="rId6"/>
    <p:sldId id="260" r:id="rId7"/>
    <p:sldId id="261" r:id="rId8"/>
    <p:sldId id="266" r:id="rId9"/>
    <p:sldId id="265" r:id="rId10"/>
    <p:sldId id="263" r:id="rId11"/>
    <p:sldId id="259" r:id="rId12"/>
    <p:sldId id="264" r:id="rId13"/>
  </p:sldIdLst>
  <p:sldSz cx="10969625" cy="6170613"/>
  <p:notesSz cx="6858000" cy="9144000"/>
  <p:custDataLst>
    <p:tags r:id="rId15"/>
  </p:custDataLst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1pPr>
    <a:lvl2pPr marL="411137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2pPr>
    <a:lvl3pPr marL="8222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3pPr>
    <a:lvl4pPr marL="1233411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4pPr>
    <a:lvl5pPr marL="164454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5pPr>
    <a:lvl6pPr marL="2055686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6pPr>
    <a:lvl7pPr marL="2466823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7pPr>
    <a:lvl8pPr marL="2877960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8pPr>
    <a:lvl9pPr marL="3289097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6" autoAdjust="0"/>
    <p:restoredTop sz="96400" autoAdjust="0"/>
  </p:normalViewPr>
  <p:slideViewPr>
    <p:cSldViewPr snapToGrid="0">
      <p:cViewPr varScale="1">
        <p:scale>
          <a:sx n="123" d="100"/>
          <a:sy n="123" d="100"/>
        </p:scale>
        <p:origin x="40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tags" Target="tags/tag1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\\FE00FS45.DE.BOSCH.COM\HRO7RNG$\BesprechungUni\Projektablaufsplan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Tabelle1!$D$1</c:f>
              <c:strCache>
                <c:ptCount val="1"/>
                <c:pt idx="0">
                  <c:v>Start KW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cat>
            <c:multiLvlStrRef>
              <c:f>Tabelle1!$A$2:$C$20</c:f>
              <c:multiLvlStrCache>
                <c:ptCount val="19"/>
                <c:lvl>
                  <c:pt idx="0">
                    <c:v>Theoretische Grundlagen</c:v>
                  </c:pt>
                  <c:pt idx="1">
                    <c:v>Kristallplastizität</c:v>
                  </c:pt>
                  <c:pt idx="2">
                    <c:v>Fatigue indicator parameters</c:v>
                  </c:pt>
                  <c:pt idx="3">
                    <c:v>Lebensdauerprognose</c:v>
                  </c:pt>
                  <c:pt idx="4">
                    <c:v>Mikrostrukturgenerierung</c:v>
                  </c:pt>
                  <c:pt idx="5">
                    <c:v>Materialparameter</c:v>
                  </c:pt>
                  <c:pt idx="6">
                    <c:v>Schnittstellelle Geometriegenerieung </c:v>
                  </c:pt>
                  <c:pt idx="7">
                    <c:v>Schnittstelle Modellgenerierung</c:v>
                  </c:pt>
                  <c:pt idx="8">
                    <c:v>Schnitstelle Simulationsdurchführung</c:v>
                  </c:pt>
                  <c:pt idx="9">
                    <c:v>Material XX</c:v>
                  </c:pt>
                  <c:pt idx="10">
                    <c:v>Material YY</c:v>
                  </c:pt>
                  <c:pt idx="11">
                    <c:v>Material ZZ</c:v>
                  </c:pt>
                  <c:pt idx="12">
                    <c:v>Material XX</c:v>
                  </c:pt>
                  <c:pt idx="13">
                    <c:v>Material YY</c:v>
                  </c:pt>
                  <c:pt idx="14">
                    <c:v>Material ZZ</c:v>
                  </c:pt>
                  <c:pt idx="15">
                    <c:v>Erstellung Diagramme</c:v>
                  </c:pt>
                  <c:pt idx="16">
                    <c:v>Kapitel Grundlagen</c:v>
                  </c:pt>
                  <c:pt idx="17">
                    <c:v>Kapitel Auswertung</c:v>
                  </c:pt>
                  <c:pt idx="18">
                    <c:v>Kapitel Fazit</c:v>
                  </c:pt>
                </c:lvl>
                <c:lvl>
                  <c:pt idx="0">
                    <c:v>Literaturrecherche</c:v>
                  </c:pt>
                  <c:pt idx="6">
                    <c:v>Programmierung</c:v>
                  </c:pt>
                  <c:pt idx="9">
                    <c:v>Simulation</c:v>
                  </c:pt>
                  <c:pt idx="12">
                    <c:v>Evaluierung</c:v>
                  </c:pt>
                  <c:pt idx="15">
                    <c:v>Doku</c:v>
                  </c:pt>
                  <c:pt idx="16">
                    <c:v>Erstellung des Berichts</c:v>
                  </c:pt>
                </c:lvl>
                <c:lvl>
                  <c:pt idx="0">
                    <c:v>Einführung/Vorarbeit</c:v>
                  </c:pt>
                  <c:pt idx="9">
                    <c:v>Untersuchung</c:v>
                  </c:pt>
                  <c:pt idx="15">
                    <c:v>Ausarbeitung</c:v>
                  </c:pt>
                </c:lvl>
              </c:multiLvlStrCache>
            </c:multiLvlStrRef>
          </c:cat>
          <c:val>
            <c:numRef>
              <c:f>Tabelle1!$D$2:$D$20</c:f>
              <c:numCache>
                <c:formatCode>General</c:formatCode>
                <c:ptCount val="19"/>
                <c:pt idx="0">
                  <c:v>31</c:v>
                </c:pt>
                <c:pt idx="1">
                  <c:v>32</c:v>
                </c:pt>
                <c:pt idx="2">
                  <c:v>33</c:v>
                </c:pt>
                <c:pt idx="3">
                  <c:v>34</c:v>
                </c:pt>
                <c:pt idx="4">
                  <c:v>35</c:v>
                </c:pt>
                <c:pt idx="5">
                  <c:v>37</c:v>
                </c:pt>
                <c:pt idx="6">
                  <c:v>31</c:v>
                </c:pt>
                <c:pt idx="7">
                  <c:v>34</c:v>
                </c:pt>
                <c:pt idx="8">
                  <c:v>35</c:v>
                </c:pt>
                <c:pt idx="9">
                  <c:v>36</c:v>
                </c:pt>
                <c:pt idx="10">
                  <c:v>37</c:v>
                </c:pt>
                <c:pt idx="11">
                  <c:v>37</c:v>
                </c:pt>
                <c:pt idx="12">
                  <c:v>40</c:v>
                </c:pt>
                <c:pt idx="13">
                  <c:v>41</c:v>
                </c:pt>
                <c:pt idx="14">
                  <c:v>41</c:v>
                </c:pt>
                <c:pt idx="15">
                  <c:v>51</c:v>
                </c:pt>
                <c:pt idx="16">
                  <c:v>33</c:v>
                </c:pt>
                <c:pt idx="17">
                  <c:v>52</c:v>
                </c:pt>
                <c:pt idx="18">
                  <c:v>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C5C-4F85-8F1D-9E2B4338EBDF}"/>
            </c:ext>
          </c:extLst>
        </c:ser>
        <c:ser>
          <c:idx val="1"/>
          <c:order val="1"/>
          <c:tx>
            <c:strRef>
              <c:f>Tabelle1!$E$1</c:f>
              <c:strCache>
                <c:ptCount val="1"/>
                <c:pt idx="0">
                  <c:v>Dauer Wochen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multiLvlStrRef>
              <c:f>Tabelle1!$A$2:$C$20</c:f>
              <c:multiLvlStrCache>
                <c:ptCount val="19"/>
                <c:lvl>
                  <c:pt idx="0">
                    <c:v>Theoretische Grundlagen</c:v>
                  </c:pt>
                  <c:pt idx="1">
                    <c:v>Kristallplastizität</c:v>
                  </c:pt>
                  <c:pt idx="2">
                    <c:v>Fatigue indicator parameters</c:v>
                  </c:pt>
                  <c:pt idx="3">
                    <c:v>Lebensdauerprognose</c:v>
                  </c:pt>
                  <c:pt idx="4">
                    <c:v>Mikrostrukturgenerierung</c:v>
                  </c:pt>
                  <c:pt idx="5">
                    <c:v>Materialparameter</c:v>
                  </c:pt>
                  <c:pt idx="6">
                    <c:v>Schnittstellelle Geometriegenerieung </c:v>
                  </c:pt>
                  <c:pt idx="7">
                    <c:v>Schnittstelle Modellgenerierung</c:v>
                  </c:pt>
                  <c:pt idx="8">
                    <c:v>Schnitstelle Simulationsdurchführung</c:v>
                  </c:pt>
                  <c:pt idx="9">
                    <c:v>Material XX</c:v>
                  </c:pt>
                  <c:pt idx="10">
                    <c:v>Material YY</c:v>
                  </c:pt>
                  <c:pt idx="11">
                    <c:v>Material ZZ</c:v>
                  </c:pt>
                  <c:pt idx="12">
                    <c:v>Material XX</c:v>
                  </c:pt>
                  <c:pt idx="13">
                    <c:v>Material YY</c:v>
                  </c:pt>
                  <c:pt idx="14">
                    <c:v>Material ZZ</c:v>
                  </c:pt>
                  <c:pt idx="15">
                    <c:v>Erstellung Diagramme</c:v>
                  </c:pt>
                  <c:pt idx="16">
                    <c:v>Kapitel Grundlagen</c:v>
                  </c:pt>
                  <c:pt idx="17">
                    <c:v>Kapitel Auswertung</c:v>
                  </c:pt>
                  <c:pt idx="18">
                    <c:v>Kapitel Fazit</c:v>
                  </c:pt>
                </c:lvl>
                <c:lvl>
                  <c:pt idx="0">
                    <c:v>Literaturrecherche</c:v>
                  </c:pt>
                  <c:pt idx="6">
                    <c:v>Programmierung</c:v>
                  </c:pt>
                  <c:pt idx="9">
                    <c:v>Simulation</c:v>
                  </c:pt>
                  <c:pt idx="12">
                    <c:v>Evaluierung</c:v>
                  </c:pt>
                  <c:pt idx="15">
                    <c:v>Doku</c:v>
                  </c:pt>
                  <c:pt idx="16">
                    <c:v>Erstellung des Berichts</c:v>
                  </c:pt>
                </c:lvl>
                <c:lvl>
                  <c:pt idx="0">
                    <c:v>Einführung/Vorarbeit</c:v>
                  </c:pt>
                  <c:pt idx="9">
                    <c:v>Untersuchung</c:v>
                  </c:pt>
                  <c:pt idx="15">
                    <c:v>Ausarbeitung</c:v>
                  </c:pt>
                </c:lvl>
              </c:multiLvlStrCache>
            </c:multiLvlStrRef>
          </c:cat>
          <c:val>
            <c:numRef>
              <c:f>Tabelle1!$E$2:$E$20</c:f>
              <c:numCache>
                <c:formatCode>General</c:formatCode>
                <c:ptCount val="19"/>
                <c:pt idx="0">
                  <c:v>4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2</c:v>
                </c:pt>
                <c:pt idx="6">
                  <c:v>3</c:v>
                </c:pt>
                <c:pt idx="7">
                  <c:v>2</c:v>
                </c:pt>
                <c:pt idx="8">
                  <c:v>2</c:v>
                </c:pt>
                <c:pt idx="9">
                  <c:v>4</c:v>
                </c:pt>
                <c:pt idx="10">
                  <c:v>3</c:v>
                </c:pt>
                <c:pt idx="11">
                  <c:v>3</c:v>
                </c:pt>
                <c:pt idx="12">
                  <c:v>4</c:v>
                </c:pt>
                <c:pt idx="13">
                  <c:v>3</c:v>
                </c:pt>
                <c:pt idx="14">
                  <c:v>3</c:v>
                </c:pt>
                <c:pt idx="15">
                  <c:v>1</c:v>
                </c:pt>
                <c:pt idx="16">
                  <c:v>10</c:v>
                </c:pt>
                <c:pt idx="17">
                  <c:v>3</c:v>
                </c:pt>
                <c:pt idx="18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C5C-4F85-8F1D-9E2B4338EB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741732783"/>
        <c:axId val="746913263"/>
      </c:barChart>
      <c:catAx>
        <c:axId val="741732783"/>
        <c:scaling>
          <c:orientation val="maxMin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746913263"/>
        <c:crosses val="autoZero"/>
        <c:auto val="1"/>
        <c:lblAlgn val="ctr"/>
        <c:lblOffset val="100"/>
        <c:noMultiLvlLbl val="0"/>
      </c:catAx>
      <c:valAx>
        <c:axId val="746913263"/>
        <c:scaling>
          <c:orientation val="minMax"/>
          <c:max val="57"/>
          <c:min val="31"/>
        </c:scaling>
        <c:delete val="0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de-DE"/>
                  <a:t>Kalenderwoche 2021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741732783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1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07911F-CEAF-4F0B-98BD-EFB38C6572AA}" type="datetimeFigureOut">
              <a:rPr lang="de-DE" smtClean="0"/>
              <a:t>02.09.2021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2D48B2-9EB0-4B37-9B35-FC11E2EA535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3153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Chi im Fließgesetz ist Rückspannungstensor um </a:t>
            </a:r>
            <a:r>
              <a:rPr lang="de-DE" dirty="0" err="1"/>
              <a:t>bauschinger</a:t>
            </a:r>
            <a:r>
              <a:rPr lang="de-DE" dirty="0"/>
              <a:t> </a:t>
            </a:r>
            <a:r>
              <a:rPr lang="de-DE" dirty="0" err="1"/>
              <a:t>effekt</a:t>
            </a:r>
            <a:r>
              <a:rPr lang="de-DE" dirty="0"/>
              <a:t> und </a:t>
            </a:r>
            <a:r>
              <a:rPr lang="de-DE" dirty="0" err="1"/>
              <a:t>ratcheting</a:t>
            </a:r>
            <a:r>
              <a:rPr lang="de-DE" dirty="0"/>
              <a:t> abzubilden</a:t>
            </a:r>
          </a:p>
          <a:p>
            <a:r>
              <a:rPr lang="de-DE" dirty="0"/>
              <a:t>Rückspannungstensor entweder nach </a:t>
            </a:r>
            <a:r>
              <a:rPr lang="de-DE" dirty="0" err="1"/>
              <a:t>Armstrog</a:t>
            </a:r>
            <a:r>
              <a:rPr lang="de-DE" dirty="0"/>
              <a:t>-Frederick oder nach </a:t>
            </a:r>
            <a:r>
              <a:rPr lang="de-DE" dirty="0" err="1"/>
              <a:t>OnoWang</a:t>
            </a:r>
            <a:endParaRPr lang="de-DE" dirty="0"/>
          </a:p>
          <a:p>
            <a:r>
              <a:rPr lang="de-DE" dirty="0" err="1"/>
              <a:t>Ohno</a:t>
            </a:r>
            <a:r>
              <a:rPr lang="de-DE" dirty="0"/>
              <a:t> </a:t>
            </a:r>
            <a:r>
              <a:rPr lang="de-DE" dirty="0" err="1"/>
              <a:t>wang</a:t>
            </a:r>
            <a:r>
              <a:rPr lang="de-DE" dirty="0"/>
              <a:t> </a:t>
            </a:r>
            <a:r>
              <a:rPr lang="de-DE" dirty="0" err="1"/>
              <a:t>erweiterung</a:t>
            </a:r>
            <a:r>
              <a:rPr lang="de-DE" dirty="0"/>
              <a:t> von </a:t>
            </a:r>
            <a:r>
              <a:rPr lang="de-DE" dirty="0" err="1"/>
              <a:t>armstrong</a:t>
            </a:r>
            <a:r>
              <a:rPr lang="de-DE" dirty="0"/>
              <a:t> Frederick</a:t>
            </a:r>
          </a:p>
          <a:p>
            <a:endParaRPr lang="de-DE" dirty="0"/>
          </a:p>
          <a:p>
            <a:r>
              <a:rPr lang="de-DE" dirty="0" err="1"/>
              <a:t>Bauschinger</a:t>
            </a:r>
            <a:r>
              <a:rPr lang="de-DE" dirty="0"/>
              <a:t> </a:t>
            </a:r>
            <a:r>
              <a:rPr lang="de-DE" dirty="0" err="1"/>
              <a:t>effect</a:t>
            </a:r>
            <a:r>
              <a:rPr lang="de-DE" dirty="0"/>
              <a:t>: verringerter widerstand gegen plastische Verformung</a:t>
            </a:r>
          </a:p>
          <a:p>
            <a:endParaRPr lang="de-DE" dirty="0"/>
          </a:p>
          <a:p>
            <a:r>
              <a:rPr lang="de-DE" dirty="0" err="1"/>
              <a:t>Ratcheting</a:t>
            </a:r>
            <a:r>
              <a:rPr lang="de-DE" dirty="0"/>
              <a:t> – </a:t>
            </a:r>
            <a:r>
              <a:rPr lang="de-DE" dirty="0" err="1"/>
              <a:t>akkumulation</a:t>
            </a:r>
            <a:r>
              <a:rPr lang="de-DE" dirty="0"/>
              <a:t> plastischen Dehnungen bei Spannungsorientierten versuchen.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2D48B2-9EB0-4B37-9B35-FC11E2EA535A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622745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Da FIP abhängig von </a:t>
            </a:r>
            <a:r>
              <a:rPr lang="de-DE" dirty="0" err="1"/>
              <a:t>Diskretisierung</a:t>
            </a:r>
            <a:r>
              <a:rPr lang="de-DE" dirty="0"/>
              <a:t> ist, wird eine nicht lokale </a:t>
            </a:r>
            <a:r>
              <a:rPr lang="de-DE" dirty="0" err="1"/>
              <a:t>homogenisiereung</a:t>
            </a:r>
            <a:r>
              <a:rPr lang="de-DE" dirty="0"/>
              <a:t> über alle Elemente durchgeführt, welche einem Korn unterliegen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2D48B2-9EB0-4B37-9B35-FC11E2EA535A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739147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Tessellations: way</a:t>
            </a:r>
            <a:r>
              <a:rPr lang="en-US" baseline="0" dirty="0"/>
              <a:t> to represent polycrystalline microstructures </a:t>
            </a:r>
            <a:endParaRPr lang="en-US" dirty="0"/>
          </a:p>
          <a:p>
            <a:r>
              <a:rPr lang="en-US" dirty="0" err="1"/>
              <a:t>Voronoi</a:t>
            </a:r>
            <a:r>
              <a:rPr lang="en-US" dirty="0"/>
              <a:t>:</a:t>
            </a:r>
            <a:r>
              <a:rPr lang="en-US" baseline="0" dirty="0"/>
              <a:t> fixed seeds, isotropic grain growth same in every direction at every grain</a:t>
            </a:r>
          </a:p>
          <a:p>
            <a:r>
              <a:rPr lang="en-US" baseline="0" dirty="0"/>
              <a:t>Laguerre: same, but now different speeds of grain growth</a:t>
            </a:r>
          </a:p>
          <a:p>
            <a:r>
              <a:rPr lang="en-US" baseline="0" dirty="0"/>
              <a:t>Additional degree of freedom gives rise to more tailored representations, for example volume fractions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2D48B2-9EB0-4B37-9B35-FC11E2EA535A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628007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Indeed …input &amp; demand</a:t>
            </a:r>
          </a:p>
          <a:p>
            <a:r>
              <a:rPr lang="en-US" dirty="0"/>
              <a:t>Problem</a:t>
            </a:r>
            <a:r>
              <a:rPr lang="en-US" baseline="0" dirty="0"/>
              <a:t> recast as convex optimization problem following Bourne et al. </a:t>
            </a:r>
          </a:p>
          <a:p>
            <a:r>
              <a:rPr lang="en-US" baseline="0" dirty="0"/>
              <a:t>Possibility to generate Laguerre tessellations with cells of given volume fractions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2D48B2-9EB0-4B37-9B35-FC11E2EA535A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463070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elfol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 1" descr="bg1_d2_169.png">
            <a:extLst>
              <a:ext uri="{FF2B5EF4-FFF2-40B4-BE49-F238E27FC236}">
                <a16:creationId xmlns:a16="http://schemas.microsoft.com/office/drawing/2014/main" id="{896CC0FD-4256-4167-AE25-A738EE088951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" y="2"/>
            <a:ext cx="10969509" cy="6170929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6" name="Grafik 4" descr="logo1_d2.png">
            <a:extLst>
              <a:ext uri="{FF2B5EF4-FFF2-40B4-BE49-F238E27FC236}">
                <a16:creationId xmlns:a16="http://schemas.microsoft.com/office/drawing/2014/main" id="{173BBCFB-9404-4FBA-9EEC-E8008B6044A2}"/>
              </a:ext>
            </a:extLst>
          </p:cNvPr>
          <p:cNvPicPr>
            <a:picLocks noSel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FD8C3B7-D4C2-49FB-A234-B9EF65EF0E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59200" y="259200"/>
            <a:ext cx="9874800" cy="5205600"/>
          </a:xfrm>
          <a:ln w="0">
            <a:noFill/>
          </a:ln>
          <a:effectLst/>
        </p:spPr>
        <p:txBody>
          <a:bodyPr anchor="t" anchorCtr="0">
            <a:normAutofit/>
          </a:bodyPr>
          <a:lstStyle>
            <a:lvl1pPr algn="l">
              <a:lnSpc>
                <a:spcPct val="90000"/>
              </a:lnSpc>
              <a:defRPr sz="7999" cap="all" baseline="0">
                <a:solidFill>
                  <a:schemeClr val="bg1"/>
                </a:solidFill>
              </a:defRPr>
            </a:lvl1pPr>
          </a:lstStyle>
          <a:p>
            <a:r>
              <a:rPr lang="en-US" noProof="1"/>
              <a:t>Präs. Titel hinzufügen</a:t>
            </a:r>
          </a:p>
        </p:txBody>
      </p:sp>
      <p:pic>
        <p:nvPicPr>
          <p:cNvPr id="10" name="Grafik 3" descr="right_d2.png">
            <a:extLst>
              <a:ext uri="{FF2B5EF4-FFF2-40B4-BE49-F238E27FC236}">
                <a16:creationId xmlns:a16="http://schemas.microsoft.com/office/drawing/2014/main" id="{649683E7-5D3C-46E0-92A4-661F3C29C858}"/>
              </a:ext>
            </a:extLst>
          </p:cNvPr>
          <p:cNvPicPr>
            <a:picLocks noSel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0940" y="2"/>
            <a:ext cx="129600" cy="617092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62193031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3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3443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elfol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ackground 2" descr="bg2_d2_169.png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" y="2"/>
            <a:ext cx="10969509" cy="6170929"/>
          </a:xfrm>
          <a:prstGeom prst="rect">
            <a:avLst/>
          </a:prstGeom>
          <a:ln w="0">
            <a:noFill/>
          </a:ln>
          <a:effectLst/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FD8C3B7-D4C2-49FB-A234-B9EF65EF0E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59200" y="259200"/>
            <a:ext cx="9874800" cy="5205600"/>
          </a:xfrm>
          <a:ln w="0">
            <a:noFill/>
          </a:ln>
          <a:effectLst/>
        </p:spPr>
        <p:txBody>
          <a:bodyPr anchor="t" anchorCtr="0">
            <a:normAutofit/>
          </a:bodyPr>
          <a:lstStyle>
            <a:lvl1pPr algn="l">
              <a:lnSpc>
                <a:spcPct val="90000"/>
              </a:lnSpc>
              <a:defRPr sz="7999" cap="all" baseline="0">
                <a:solidFill>
                  <a:schemeClr val="bg1"/>
                </a:solidFill>
              </a:defRPr>
            </a:lvl1pPr>
          </a:lstStyle>
          <a:p>
            <a:r>
              <a:rPr lang="en-US" noProof="1"/>
              <a:t>Präs. Titel hinzufügen</a:t>
            </a:r>
          </a:p>
        </p:txBody>
      </p:sp>
      <p:pic>
        <p:nvPicPr>
          <p:cNvPr id="7" name="Grafik 4" descr="logo1_d2.png">
            <a:extLst>
              <a:ext uri="{FF2B5EF4-FFF2-40B4-BE49-F238E27FC236}">
                <a16:creationId xmlns:a16="http://schemas.microsoft.com/office/drawing/2014/main" id="{7868D6E5-0EC1-4883-8CF9-7E8712A5DE97}"/>
              </a:ext>
            </a:extLst>
          </p:cNvPr>
          <p:cNvPicPr>
            <a:picLocks noSel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9" name="Grafik 3" descr="right_d2.png">
            <a:extLst>
              <a:ext uri="{FF2B5EF4-FFF2-40B4-BE49-F238E27FC236}">
                <a16:creationId xmlns:a16="http://schemas.microsoft.com/office/drawing/2014/main" id="{24DBB17F-A4BD-455D-A654-0625D135562B}"/>
              </a:ext>
            </a:extLst>
          </p:cNvPr>
          <p:cNvPicPr>
            <a:picLocks noSel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0940" y="2"/>
            <a:ext cx="129600" cy="617092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81453195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3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3443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enutzerdefinierte Titelfoli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7FD8C3B7-D4C2-49FB-A234-B9EF65EF0E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59200" y="259200"/>
            <a:ext cx="9874800" cy="5205600"/>
          </a:xfrm>
          <a:ln w="0">
            <a:noFill/>
          </a:ln>
          <a:effectLst/>
        </p:spPr>
        <p:txBody>
          <a:bodyPr anchor="t" anchorCtr="0">
            <a:normAutofit/>
          </a:bodyPr>
          <a:lstStyle>
            <a:lvl1pPr algn="l">
              <a:lnSpc>
                <a:spcPct val="90000"/>
              </a:lnSpc>
              <a:defRPr sz="7999" cap="all" baseline="0">
                <a:solidFill>
                  <a:schemeClr val="bg1"/>
                </a:solidFill>
              </a:defRPr>
            </a:lvl1pPr>
          </a:lstStyle>
          <a:p>
            <a:r>
              <a:rPr lang="en-US" noProof="1"/>
              <a:t>Präs. Titel hinzufügen</a:t>
            </a:r>
          </a:p>
        </p:txBody>
      </p:sp>
      <p:pic>
        <p:nvPicPr>
          <p:cNvPr id="7" name="Grafik 4" descr="logo1_d2.png">
            <a:extLst>
              <a:ext uri="{FF2B5EF4-FFF2-40B4-BE49-F238E27FC236}">
                <a16:creationId xmlns:a16="http://schemas.microsoft.com/office/drawing/2014/main" id="{EFF0EBDE-7B9D-4454-9B44-8763A24EC960}"/>
              </a:ext>
            </a:extLst>
          </p:cNvPr>
          <p:cNvPicPr>
            <a:picLocks noSel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9" name="Grafik 3" descr="right_d2.png">
            <a:extLst>
              <a:ext uri="{FF2B5EF4-FFF2-40B4-BE49-F238E27FC236}">
                <a16:creationId xmlns:a16="http://schemas.microsoft.com/office/drawing/2014/main" id="{24DBB17F-A4BD-455D-A654-0625D135562B}"/>
              </a:ext>
            </a:extLst>
          </p:cNvPr>
          <p:cNvPicPr>
            <a:picLocks noSel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0940" y="2"/>
            <a:ext cx="129600" cy="617092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76259289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3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3443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Kapitelfoli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pter_title">
            <a:extLst>
              <a:ext uri="{FF2B5EF4-FFF2-40B4-BE49-F238E27FC236}">
                <a16:creationId xmlns:a16="http://schemas.microsoft.com/office/drawing/2014/main" id="{EE80FFE3-B9B2-433E-9111-10990FD419A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59200" y="259200"/>
            <a:ext cx="9874800" cy="5205600"/>
          </a:xfrm>
          <a:ln w="0">
            <a:noFill/>
          </a:ln>
          <a:effectLst/>
        </p:spPr>
        <p:txBody>
          <a:bodyPr anchor="t" anchorCtr="0"/>
          <a:lstStyle>
            <a:lvl1pPr algn="l">
              <a:lnSpc>
                <a:spcPct val="90000"/>
              </a:lnSpc>
              <a:defRPr sz="6500" cap="all" baseline="0">
                <a:solidFill>
                  <a:schemeClr val="bg1"/>
                </a:solidFill>
              </a:defRPr>
            </a:lvl1pPr>
          </a:lstStyle>
          <a:p>
            <a:r>
              <a:rPr lang="en-US" noProof="1"/>
              <a:t>Kapitel­überschrift hinzufügen</a:t>
            </a:r>
          </a:p>
        </p:txBody>
      </p:sp>
      <p:pic>
        <p:nvPicPr>
          <p:cNvPr id="5" name="Grafik 4" descr="logo1_d2.png">
            <a:extLst>
              <a:ext uri="{FF2B5EF4-FFF2-40B4-BE49-F238E27FC236}">
                <a16:creationId xmlns:a16="http://schemas.microsoft.com/office/drawing/2014/main" id="{FC6E8050-6AB1-433E-A876-5E84688D10B0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7" name="Grafik 3" descr="right_d2.png">
            <a:extLst>
              <a:ext uri="{FF2B5EF4-FFF2-40B4-BE49-F238E27FC236}">
                <a16:creationId xmlns:a16="http://schemas.microsoft.com/office/drawing/2014/main" id="{50EF21B3-288B-44C8-B2D9-3FFE25CF4E6C}"/>
              </a:ext>
            </a:extLst>
          </p:cNvPr>
          <p:cNvPicPr>
            <a:picLocks noSel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0940" y="2"/>
            <a:ext cx="129600" cy="617092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82880939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3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3443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Zita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9200" y="259199"/>
            <a:ext cx="9874800" cy="5205600"/>
          </a:xfrm>
        </p:spPr>
        <p:txBody>
          <a:bodyPr anchor="ctr" anchorCtr="0"/>
          <a:lstStyle>
            <a:lvl1pPr>
              <a:lnSpc>
                <a:spcPct val="90000"/>
              </a:lnSpc>
              <a:defRPr sz="4000" i="1"/>
            </a:lvl1pPr>
          </a:lstStyle>
          <a:p>
            <a:r>
              <a:rPr lang="en-US" noProof="1"/>
              <a:t>„Zitat hinzufügen”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66700" y="5628640"/>
            <a:ext cx="288290" cy="410210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‹Nr.›</a:t>
            </a:fld>
            <a:endParaRPr lang="en-US" noProof="1"/>
          </a:p>
        </p:txBody>
      </p:sp>
      <p:pic>
        <p:nvPicPr>
          <p:cNvPr id="7" name="Grafik 3" descr="bottom_d2_169.png"/>
          <p:cNvPicPr>
            <a:picLocks noSel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390"/>
            <a:ext cx="10970260" cy="12954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11" name="Grafik 10" descr="logo2_d2.png">
            <a:extLst>
              <a:ext uri="{FF2B5EF4-FFF2-40B4-BE49-F238E27FC236}">
                <a16:creationId xmlns:a16="http://schemas.microsoft.com/office/drawing/2014/main" id="{77D5F5E1-4827-426B-99FE-8CE2E1270E26}"/>
              </a:ext>
            </a:extLst>
          </p:cNvPr>
          <p:cNvPicPr>
            <a:picLocks noSel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2613"/>
            <a:ext cx="135936" cy="648000"/>
          </a:xfrm>
          <a:prstGeom prst="rect">
            <a:avLst/>
          </a:prstGeom>
        </p:spPr>
      </p:pic>
      <p:sp>
        <p:nvSpPr>
          <p:cNvPr id="12" name="Rectangle7">
            <a:extLst>
              <a:ext uri="{FF2B5EF4-FFF2-40B4-BE49-F238E27FC236}">
                <a16:creationId xmlns:a16="http://schemas.microsoft.com/office/drawing/2014/main" id="{855EB1A0-FDAA-4D62-99AE-E08E3E26E93B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Bosch Office Sans" pitchFamily="2" charset="0"/>
              </a:rPr>
              <a:t> </a:t>
            </a:r>
          </a:p>
        </p:txBody>
      </p:sp>
      <p:pic>
        <p:nvPicPr>
          <p:cNvPr id="15" name="Grafik 4" descr="logo1_d2.png">
            <a:extLst>
              <a:ext uri="{FF2B5EF4-FFF2-40B4-BE49-F238E27FC236}">
                <a16:creationId xmlns:a16="http://schemas.microsoft.com/office/drawing/2014/main" id="{6E018BBC-5CA8-4135-B38C-8681A1586972}"/>
              </a:ext>
            </a:extLst>
          </p:cNvPr>
          <p:cNvPicPr>
            <a:picLocks noSel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0417785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3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3443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azi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9200" y="259199"/>
            <a:ext cx="9874800" cy="5205600"/>
          </a:xfrm>
        </p:spPr>
        <p:txBody>
          <a:bodyPr anchor="ctr" anchorCtr="0"/>
          <a:lstStyle>
            <a:lvl1pPr>
              <a:lnSpc>
                <a:spcPct val="90000"/>
              </a:lnSpc>
              <a:defRPr sz="4000" i="0"/>
            </a:lvl1pPr>
          </a:lstStyle>
          <a:p>
            <a:r>
              <a:rPr lang="en-US" noProof="1"/>
              <a:t>Fazit hinzufügen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66700" y="5628640"/>
            <a:ext cx="288290" cy="410210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‹Nr.›</a:t>
            </a:fld>
            <a:endParaRPr lang="en-US" noProof="1"/>
          </a:p>
        </p:txBody>
      </p:sp>
      <p:pic>
        <p:nvPicPr>
          <p:cNvPr id="7" name="Grafik 3" descr="bottom_d2_169.png"/>
          <p:cNvPicPr>
            <a:picLocks noSel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389"/>
            <a:ext cx="10970260" cy="12954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11" name="Grafik 10" descr="logo2_d2.png">
            <a:extLst>
              <a:ext uri="{FF2B5EF4-FFF2-40B4-BE49-F238E27FC236}">
                <a16:creationId xmlns:a16="http://schemas.microsoft.com/office/drawing/2014/main" id="{77D5F5E1-4827-426B-99FE-8CE2E1270E26}"/>
              </a:ext>
            </a:extLst>
          </p:cNvPr>
          <p:cNvPicPr>
            <a:picLocks noSel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2613"/>
            <a:ext cx="135936" cy="648000"/>
          </a:xfrm>
          <a:prstGeom prst="rect">
            <a:avLst/>
          </a:prstGeom>
        </p:spPr>
      </p:pic>
      <p:sp>
        <p:nvSpPr>
          <p:cNvPr id="10" name="Rectangle7">
            <a:extLst>
              <a:ext uri="{FF2B5EF4-FFF2-40B4-BE49-F238E27FC236}">
                <a16:creationId xmlns:a16="http://schemas.microsoft.com/office/drawing/2014/main" id="{72390B9F-3EB3-4FEE-B4B2-61FC80890073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Bosch Office Sans" pitchFamily="2" charset="0"/>
              </a:rPr>
              <a:t> </a:t>
            </a:r>
          </a:p>
        </p:txBody>
      </p:sp>
      <p:pic>
        <p:nvPicPr>
          <p:cNvPr id="14" name="Grafik 4" descr="logo1_d2.png">
            <a:extLst>
              <a:ext uri="{FF2B5EF4-FFF2-40B4-BE49-F238E27FC236}">
                <a16:creationId xmlns:a16="http://schemas.microsoft.com/office/drawing/2014/main" id="{30F7B7DF-6F0E-4921-B877-3E2AD7D8C29A}"/>
              </a:ext>
            </a:extLst>
          </p:cNvPr>
          <p:cNvPicPr>
            <a:picLocks noSel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532355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3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3443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266700" y="5628640"/>
            <a:ext cx="288290" cy="410210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‹Nr.›</a:t>
            </a:fld>
            <a:endParaRPr lang="en-US" noProof="1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" hasCustomPrompt="1"/>
          </p:nvPr>
        </p:nvSpPr>
        <p:spPr>
          <a:xfrm>
            <a:off x="259200" y="1296000"/>
            <a:ext cx="10450800" cy="4168800"/>
          </a:xfrm>
        </p:spPr>
        <p:txBody>
          <a:bodyPr/>
          <a:lstStyle>
            <a:lvl1pPr marL="251982" indent="-251982">
              <a:lnSpc>
                <a:spcPct val="107000"/>
              </a:lnSpc>
              <a:buFont typeface="+mj-lt"/>
              <a:buAutoNum type="arabicPeriod"/>
              <a:defRPr/>
            </a:lvl1pPr>
            <a:lvl2pPr marL="507563" indent="-273580">
              <a:lnSpc>
                <a:spcPct val="103000"/>
              </a:lnSpc>
              <a:buFont typeface="+mj-lt"/>
              <a:buAutoNum type="arabicPeriod"/>
              <a:defRPr/>
            </a:lvl2pPr>
            <a:lvl3pPr marL="730746" indent="-205185">
              <a:lnSpc>
                <a:spcPct val="102000"/>
              </a:lnSpc>
              <a:buFont typeface="+mj-lt"/>
              <a:buAutoNum type="arabicPeriod"/>
              <a:defRPr/>
            </a:lvl3pPr>
            <a:lvl4pPr marL="932331" indent="-183586">
              <a:lnSpc>
                <a:spcPct val="107000"/>
              </a:lnSpc>
              <a:buFont typeface="+mj-lt"/>
              <a:buAutoNum type="arabicPeriod"/>
              <a:defRPr/>
            </a:lvl4pPr>
            <a:lvl5pPr marL="932331" indent="-183586">
              <a:lnSpc>
                <a:spcPct val="103000"/>
              </a:lnSpc>
              <a:buFont typeface="+mj-lt"/>
              <a:buAutoNum type="arabicPeriod"/>
              <a:defRPr/>
            </a:lvl5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Rectangle7" hidden="1"/>
          <p:cNvSpPr>
            <a:spLocks/>
          </p:cNvSpPr>
          <p:nvPr/>
        </p:nvSpPr>
        <p:spPr>
          <a:xfrm>
            <a:off x="9223200" y="259078"/>
            <a:ext cx="1692000" cy="777721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%attachmentremark% </a:t>
            </a:r>
          </a:p>
        </p:txBody>
      </p:sp>
      <p:pic>
        <p:nvPicPr>
          <p:cNvPr id="25" name="Grafik 3" descr="bottom_d2_169.png">
            <a:extLst>
              <a:ext uri="{FF2B5EF4-FFF2-40B4-BE49-F238E27FC236}">
                <a16:creationId xmlns:a16="http://schemas.microsoft.com/office/drawing/2014/main" id="{5924583E-7B93-41AC-AC5B-430C0AD45AC7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390"/>
            <a:ext cx="10970260" cy="12954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3" name="Grafik 32" descr="logo2_d2.png">
            <a:extLst>
              <a:ext uri="{FF2B5EF4-FFF2-40B4-BE49-F238E27FC236}">
                <a16:creationId xmlns:a16="http://schemas.microsoft.com/office/drawing/2014/main" id="{48E231CC-E3B9-4D96-AA06-B1CFFA847D96}"/>
              </a:ext>
            </a:extLst>
          </p:cNvPr>
          <p:cNvPicPr>
            <a:picLocks noSel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2613"/>
            <a:ext cx="135936" cy="648000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3EC746CB-10AC-40C9-8647-79D1DEB9F93D}"/>
              </a:ext>
            </a:extLst>
          </p:cNvPr>
          <p:cNvSpPr txBox="1"/>
          <p:nvPr userDrawn="1"/>
        </p:nvSpPr>
        <p:spPr>
          <a:xfrm>
            <a:off x="259200" y="259200"/>
            <a:ext cx="10450800" cy="7776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defTabSz="914400" eaLnBrk="1" fontAlgn="auto" latinLnBrk="0" hangingPunct="1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Agenda</a:t>
            </a:r>
          </a:p>
        </p:txBody>
      </p:sp>
      <p:sp>
        <p:nvSpPr>
          <p:cNvPr id="12" name="Rectangle7">
            <a:extLst>
              <a:ext uri="{FF2B5EF4-FFF2-40B4-BE49-F238E27FC236}">
                <a16:creationId xmlns:a16="http://schemas.microsoft.com/office/drawing/2014/main" id="{F0D59F04-5C89-4857-A44C-3D9D9D3D938E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Bosch Office Sans" pitchFamily="2" charset="0"/>
              </a:rPr>
              <a:t> </a:t>
            </a:r>
          </a:p>
        </p:txBody>
      </p:sp>
      <p:pic>
        <p:nvPicPr>
          <p:cNvPr id="13" name="Grafik 4" descr="logo1_d2.png">
            <a:extLst>
              <a:ext uri="{FF2B5EF4-FFF2-40B4-BE49-F238E27FC236}">
                <a16:creationId xmlns:a16="http://schemas.microsoft.com/office/drawing/2014/main" id="{39A24C14-69FA-48C5-9BFC-E264F89C2E76}"/>
              </a:ext>
            </a:extLst>
          </p:cNvPr>
          <p:cNvPicPr>
            <a:picLocks noSel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9403102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747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43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9200" y="648000"/>
            <a:ext cx="10450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4" name="Chapter_titleonly"/>
          <p:cNvSpPr>
            <a:spLocks noGrp="1"/>
          </p:cNvSpPr>
          <p:nvPr>
            <p:ph type="body" sz="quarter" idx="15" hasCustomPrompt="1"/>
          </p:nvPr>
        </p:nvSpPr>
        <p:spPr>
          <a:xfrm>
            <a:off x="259200" y="259200"/>
            <a:ext cx="10450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66700" y="5628640"/>
            <a:ext cx="288290" cy="410210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‹Nr.›</a:t>
            </a:fld>
            <a:endParaRPr lang="en-US" noProof="1"/>
          </a:p>
        </p:txBody>
      </p:sp>
      <p:pic>
        <p:nvPicPr>
          <p:cNvPr id="28" name="Grafik 3" descr="bottom_d2_169.png">
            <a:extLst>
              <a:ext uri="{FF2B5EF4-FFF2-40B4-BE49-F238E27FC236}">
                <a16:creationId xmlns:a16="http://schemas.microsoft.com/office/drawing/2014/main" id="{EE92306B-89C4-4A4D-81C1-DE629B5A33A0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389"/>
            <a:ext cx="10970260" cy="12954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5" name="Grafik 34" descr="logo2_d2.png">
            <a:extLst>
              <a:ext uri="{FF2B5EF4-FFF2-40B4-BE49-F238E27FC236}">
                <a16:creationId xmlns:a16="http://schemas.microsoft.com/office/drawing/2014/main" id="{4A0BB653-08E0-42FB-832C-B4ECC24A4E72}"/>
              </a:ext>
            </a:extLst>
          </p:cNvPr>
          <p:cNvPicPr>
            <a:picLocks noSel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2613"/>
            <a:ext cx="135936" cy="648000"/>
          </a:xfrm>
          <a:prstGeom prst="rect">
            <a:avLst/>
          </a:prstGeom>
        </p:spPr>
      </p:pic>
      <p:sp>
        <p:nvSpPr>
          <p:cNvPr id="10" name="Rectangle7">
            <a:extLst>
              <a:ext uri="{FF2B5EF4-FFF2-40B4-BE49-F238E27FC236}">
                <a16:creationId xmlns:a16="http://schemas.microsoft.com/office/drawing/2014/main" id="{8883D326-CEAD-4903-8269-B2D194C3C224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Bosch Office Sans" pitchFamily="2" charset="0"/>
              </a:rPr>
              <a:t> </a:t>
            </a:r>
          </a:p>
        </p:txBody>
      </p:sp>
      <p:pic>
        <p:nvPicPr>
          <p:cNvPr id="11" name="Grafik 4" descr="logo1_d2.png">
            <a:extLst>
              <a:ext uri="{FF2B5EF4-FFF2-40B4-BE49-F238E27FC236}">
                <a16:creationId xmlns:a16="http://schemas.microsoft.com/office/drawing/2014/main" id="{EA45B0BA-5E3B-4D0F-8BE3-B1AAA7A49623}"/>
              </a:ext>
            </a:extLst>
          </p:cNvPr>
          <p:cNvPicPr>
            <a:picLocks noSel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8222744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747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43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DE43D273-A15E-4B64-AFD2-1388D749B6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200" y="648000"/>
            <a:ext cx="10450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15" name="Chapter_titleonly">
            <a:extLst>
              <a:ext uri="{FF2B5EF4-FFF2-40B4-BE49-F238E27FC236}">
                <a16:creationId xmlns:a16="http://schemas.microsoft.com/office/drawing/2014/main" id="{5B281E01-A653-4813-BC65-8900B31D115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9200" y="259200"/>
            <a:ext cx="10450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66700" y="5628640"/>
            <a:ext cx="288290" cy="410210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‹Nr.›</a:t>
            </a:fld>
            <a:endParaRPr lang="en-US" noProof="1"/>
          </a:p>
        </p:txBody>
      </p:sp>
      <p:pic>
        <p:nvPicPr>
          <p:cNvPr id="28" name="Grafik 3" descr="bottom_d2_169.png">
            <a:extLst>
              <a:ext uri="{FF2B5EF4-FFF2-40B4-BE49-F238E27FC236}">
                <a16:creationId xmlns:a16="http://schemas.microsoft.com/office/drawing/2014/main" id="{EE92306B-89C4-4A4D-81C1-DE629B5A33A0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389"/>
            <a:ext cx="10970260" cy="12954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5" name="Grafik 34" descr="logo2_d2.png">
            <a:extLst>
              <a:ext uri="{FF2B5EF4-FFF2-40B4-BE49-F238E27FC236}">
                <a16:creationId xmlns:a16="http://schemas.microsoft.com/office/drawing/2014/main" id="{4A0BB653-08E0-42FB-832C-B4ECC24A4E72}"/>
              </a:ext>
            </a:extLst>
          </p:cNvPr>
          <p:cNvPicPr>
            <a:picLocks noSel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2613"/>
            <a:ext cx="135936" cy="648000"/>
          </a:xfrm>
          <a:prstGeom prst="rect">
            <a:avLst/>
          </a:prstGeom>
        </p:spPr>
      </p:pic>
      <p:sp>
        <p:nvSpPr>
          <p:cNvPr id="10" name="Rectangle7">
            <a:extLst>
              <a:ext uri="{FF2B5EF4-FFF2-40B4-BE49-F238E27FC236}">
                <a16:creationId xmlns:a16="http://schemas.microsoft.com/office/drawing/2014/main" id="{8883D326-CEAD-4903-8269-B2D194C3C224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Bosch Office Sans" pitchFamily="2" charset="0"/>
              </a:rPr>
              <a:t> </a:t>
            </a:r>
          </a:p>
        </p:txBody>
      </p:sp>
      <p:pic>
        <p:nvPicPr>
          <p:cNvPr id="11" name="Grafik 4" descr="logo1_d2.png">
            <a:extLst>
              <a:ext uri="{FF2B5EF4-FFF2-40B4-BE49-F238E27FC236}">
                <a16:creationId xmlns:a16="http://schemas.microsoft.com/office/drawing/2014/main" id="{EA45B0BA-5E3B-4D0F-8BE3-B1AAA7A49623}"/>
              </a:ext>
            </a:extLst>
          </p:cNvPr>
          <p:cNvPicPr>
            <a:picLocks noSel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4D46C5CB-CB38-4AD2-99D2-34C738DF30C0}"/>
              </a:ext>
            </a:extLst>
          </p:cNvPr>
          <p:cNvSpPr>
            <a:spLocks noGrp="1"/>
          </p:cNvSpPr>
          <p:nvPr>
            <p:ph sz="quarter" idx="1" hasCustomPrompt="1"/>
          </p:nvPr>
        </p:nvSpPr>
        <p:spPr>
          <a:xfrm>
            <a:off x="258762" y="1296000"/>
            <a:ext cx="10450800" cy="4168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8977382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747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43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Inhalte vertik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hapter_titleonly">
            <a:extLst>
              <a:ext uri="{FF2B5EF4-FFF2-40B4-BE49-F238E27FC236}">
                <a16:creationId xmlns:a16="http://schemas.microsoft.com/office/drawing/2014/main" id="{E29BFEC5-7639-4AE9-A818-5EB7EC3C9C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9200" y="259200"/>
            <a:ext cx="10450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E99B80D-00FD-40C8-B929-FA71A2E035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200" y="648000"/>
            <a:ext cx="10450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59200" y="1296000"/>
            <a:ext cx="4860000" cy="4168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5853600" y="1295999"/>
            <a:ext cx="4860000" cy="4168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66700" y="5628640"/>
            <a:ext cx="288290" cy="410210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‹Nr.›</a:t>
            </a:fld>
            <a:endParaRPr lang="en-US" noProof="1"/>
          </a:p>
        </p:txBody>
      </p:sp>
      <p:pic>
        <p:nvPicPr>
          <p:cNvPr id="29" name="Grafik 3" descr="bottom_d2_169.png">
            <a:extLst>
              <a:ext uri="{FF2B5EF4-FFF2-40B4-BE49-F238E27FC236}">
                <a16:creationId xmlns:a16="http://schemas.microsoft.com/office/drawing/2014/main" id="{2646ABA5-1E42-496E-B88F-BEBEC4B2C7B6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389"/>
            <a:ext cx="10970260" cy="12954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0" name="Grafik 29" descr="logo2_d2.png">
            <a:extLst>
              <a:ext uri="{FF2B5EF4-FFF2-40B4-BE49-F238E27FC236}">
                <a16:creationId xmlns:a16="http://schemas.microsoft.com/office/drawing/2014/main" id="{BA9AAC15-C2E5-4D68-B499-7D3FC8760D94}"/>
              </a:ext>
            </a:extLst>
          </p:cNvPr>
          <p:cNvPicPr>
            <a:picLocks noSel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2613"/>
            <a:ext cx="135936" cy="648000"/>
          </a:xfrm>
          <a:prstGeom prst="rect">
            <a:avLst/>
          </a:prstGeom>
        </p:spPr>
      </p:pic>
      <p:sp>
        <p:nvSpPr>
          <p:cNvPr id="12" name="Rectangle7">
            <a:extLst>
              <a:ext uri="{FF2B5EF4-FFF2-40B4-BE49-F238E27FC236}">
                <a16:creationId xmlns:a16="http://schemas.microsoft.com/office/drawing/2014/main" id="{0193DB20-8E77-4A05-AA77-554F32E8990F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Bosch Office Sans" pitchFamily="2" charset="0"/>
              </a:rPr>
              <a:t> </a:t>
            </a:r>
          </a:p>
        </p:txBody>
      </p:sp>
      <p:pic>
        <p:nvPicPr>
          <p:cNvPr id="14" name="Grafik 4" descr="logo1_d2.png">
            <a:extLst>
              <a:ext uri="{FF2B5EF4-FFF2-40B4-BE49-F238E27FC236}">
                <a16:creationId xmlns:a16="http://schemas.microsoft.com/office/drawing/2014/main" id="{AD1AA2B6-6C2F-4A14-9E4C-FB86A10EF6B2}"/>
              </a:ext>
            </a:extLst>
          </p:cNvPr>
          <p:cNvPicPr>
            <a:picLocks noSel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7876012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747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43" userDrawn="1">
          <p15:clr>
            <a:srgbClr val="FBAE40"/>
          </p15:clr>
        </p15:guide>
        <p15:guide id="8" pos="3225" userDrawn="1">
          <p15:clr>
            <a:srgbClr val="FBAE40"/>
          </p15:clr>
        </p15:guide>
        <p15:guide id="9" pos="3687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3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hapter_titleonly">
            <a:extLst>
              <a:ext uri="{FF2B5EF4-FFF2-40B4-BE49-F238E27FC236}">
                <a16:creationId xmlns:a16="http://schemas.microsoft.com/office/drawing/2014/main" id="{7CCAFAD8-87FF-4E8A-B13E-2709A28399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9200" y="259200"/>
            <a:ext cx="10450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213B860-B040-4AA5-BCCF-91A137076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200" y="648000"/>
            <a:ext cx="10450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59200" y="1296000"/>
            <a:ext cx="3128400" cy="4168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7560000" y="1295999"/>
            <a:ext cx="3128400" cy="4168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66700" y="5628640"/>
            <a:ext cx="288290" cy="410210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‹Nr.›</a:t>
            </a:fld>
            <a:endParaRPr lang="en-US" noProof="1"/>
          </a:p>
        </p:txBody>
      </p:sp>
      <p:pic>
        <p:nvPicPr>
          <p:cNvPr id="29" name="Grafik 3" descr="bottom_d2_169.png">
            <a:extLst>
              <a:ext uri="{FF2B5EF4-FFF2-40B4-BE49-F238E27FC236}">
                <a16:creationId xmlns:a16="http://schemas.microsoft.com/office/drawing/2014/main" id="{2646ABA5-1E42-496E-B88F-BEBEC4B2C7B6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389"/>
            <a:ext cx="10970260" cy="12954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0" name="Grafik 29" descr="logo2_d2.png">
            <a:extLst>
              <a:ext uri="{FF2B5EF4-FFF2-40B4-BE49-F238E27FC236}">
                <a16:creationId xmlns:a16="http://schemas.microsoft.com/office/drawing/2014/main" id="{BA9AAC15-C2E5-4D68-B499-7D3FC8760D94}"/>
              </a:ext>
            </a:extLst>
          </p:cNvPr>
          <p:cNvPicPr>
            <a:picLocks noSel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2613"/>
            <a:ext cx="135936" cy="648000"/>
          </a:xfrm>
          <a:prstGeom prst="rect">
            <a:avLst/>
          </a:prstGeom>
        </p:spPr>
      </p:pic>
      <p:sp>
        <p:nvSpPr>
          <p:cNvPr id="47" name="Content Placeholder 2">
            <a:extLst>
              <a:ext uri="{FF2B5EF4-FFF2-40B4-BE49-F238E27FC236}">
                <a16:creationId xmlns:a16="http://schemas.microsoft.com/office/drawing/2014/main" id="{3F3E027D-9EE5-4C12-9974-36EA025C350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09600" y="1296000"/>
            <a:ext cx="3128400" cy="4168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3" name="Rectangle7">
            <a:extLst>
              <a:ext uri="{FF2B5EF4-FFF2-40B4-BE49-F238E27FC236}">
                <a16:creationId xmlns:a16="http://schemas.microsoft.com/office/drawing/2014/main" id="{79759149-285E-4F0E-938E-7199B34084BE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Bosch Office Sans" pitchFamily="2" charset="0"/>
              </a:rPr>
              <a:t> </a:t>
            </a:r>
          </a:p>
        </p:txBody>
      </p:sp>
      <p:pic>
        <p:nvPicPr>
          <p:cNvPr id="16" name="Grafik 4" descr="logo1_d2.png">
            <a:extLst>
              <a:ext uri="{FF2B5EF4-FFF2-40B4-BE49-F238E27FC236}">
                <a16:creationId xmlns:a16="http://schemas.microsoft.com/office/drawing/2014/main" id="{853C9362-E049-4C5A-93EB-CA7DB346BCAC}"/>
              </a:ext>
            </a:extLst>
          </p:cNvPr>
          <p:cNvPicPr>
            <a:picLocks noSel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0052008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747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43" userDrawn="1">
          <p15:clr>
            <a:srgbClr val="FBAE40"/>
          </p15:clr>
        </p15:guide>
        <p15:guide id="8" pos="2135" userDrawn="1">
          <p15:clr>
            <a:srgbClr val="FBAE40"/>
          </p15:clr>
        </p15:guide>
        <p15:guide id="9" pos="2462" userDrawn="1">
          <p15:clr>
            <a:srgbClr val="FBAE40"/>
          </p15:clr>
        </p15:guide>
        <p15:guide id="10" pos="4434" userDrawn="1">
          <p15:clr>
            <a:srgbClr val="FBAE40"/>
          </p15:clr>
        </p15:guide>
        <p15:guide id="11" pos="4761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4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hapter_titleonly">
            <a:extLst>
              <a:ext uri="{FF2B5EF4-FFF2-40B4-BE49-F238E27FC236}">
                <a16:creationId xmlns:a16="http://schemas.microsoft.com/office/drawing/2014/main" id="{85E4898A-B45B-416F-8A7F-E57751056EE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9200" y="259200"/>
            <a:ext cx="10450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A33F6F31-B924-4EAD-BDA8-332AAD2C41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200" y="648000"/>
            <a:ext cx="10450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59080" y="1295399"/>
            <a:ext cx="2515870" cy="41681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5549900" y="1295399"/>
            <a:ext cx="2515870" cy="41681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2904490" y="1295400"/>
            <a:ext cx="2515870" cy="41681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4" hasCustomPrompt="1"/>
          </p:nvPr>
        </p:nvSpPr>
        <p:spPr>
          <a:xfrm>
            <a:off x="8195310" y="1295400"/>
            <a:ext cx="2515870" cy="41681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266700" y="5628640"/>
            <a:ext cx="288290" cy="410210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‹Nr.›</a:t>
            </a:fld>
            <a:endParaRPr lang="en-US" noProof="1"/>
          </a:p>
        </p:txBody>
      </p:sp>
      <p:pic>
        <p:nvPicPr>
          <p:cNvPr id="31" name="Grafik 3" descr="bottom_d2_169.png">
            <a:extLst>
              <a:ext uri="{FF2B5EF4-FFF2-40B4-BE49-F238E27FC236}">
                <a16:creationId xmlns:a16="http://schemas.microsoft.com/office/drawing/2014/main" id="{A3C6D0D9-04AD-43FA-8B6F-53255648BE83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389"/>
            <a:ext cx="10970260" cy="12954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2" name="Grafik 31" descr="logo2_d2.png">
            <a:extLst>
              <a:ext uri="{FF2B5EF4-FFF2-40B4-BE49-F238E27FC236}">
                <a16:creationId xmlns:a16="http://schemas.microsoft.com/office/drawing/2014/main" id="{A5FC486E-34C4-4DFC-9640-0742E0B83B94}"/>
              </a:ext>
            </a:extLst>
          </p:cNvPr>
          <p:cNvPicPr>
            <a:picLocks noSel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2613"/>
            <a:ext cx="135936" cy="648000"/>
          </a:xfrm>
          <a:prstGeom prst="rect">
            <a:avLst/>
          </a:prstGeom>
        </p:spPr>
      </p:pic>
      <p:sp>
        <p:nvSpPr>
          <p:cNvPr id="14" name="Rectangle7">
            <a:extLst>
              <a:ext uri="{FF2B5EF4-FFF2-40B4-BE49-F238E27FC236}">
                <a16:creationId xmlns:a16="http://schemas.microsoft.com/office/drawing/2014/main" id="{3A9A741C-7644-4810-ABAF-465822FC0D76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Bosch Office Sans" pitchFamily="2" charset="0"/>
              </a:rPr>
              <a:t> </a:t>
            </a:r>
          </a:p>
        </p:txBody>
      </p:sp>
      <p:pic>
        <p:nvPicPr>
          <p:cNvPr id="17" name="Grafik 4" descr="logo1_d2.png">
            <a:extLst>
              <a:ext uri="{FF2B5EF4-FFF2-40B4-BE49-F238E27FC236}">
                <a16:creationId xmlns:a16="http://schemas.microsoft.com/office/drawing/2014/main" id="{2F5D5F7F-9AC3-4C8C-9378-5DCB41FEB94B}"/>
              </a:ext>
            </a:extLst>
          </p:cNvPr>
          <p:cNvPicPr>
            <a:picLocks noSel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7631146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747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43" userDrawn="1">
          <p15:clr>
            <a:srgbClr val="FBAE40"/>
          </p15:clr>
        </p15:guide>
        <p15:guide id="8" pos="1749" userDrawn="1">
          <p15:clr>
            <a:srgbClr val="FBAE40"/>
          </p15:clr>
        </p15:guide>
        <p15:guide id="9" pos="1829" userDrawn="1">
          <p15:clr>
            <a:srgbClr val="FBAE40"/>
          </p15:clr>
        </p15:guide>
        <p15:guide id="10" pos="3416" userDrawn="1">
          <p15:clr>
            <a:srgbClr val="FBAE40"/>
          </p15:clr>
        </p15:guide>
        <p15:guide id="11" pos="3495" userDrawn="1">
          <p15:clr>
            <a:srgbClr val="FBAE40"/>
          </p15:clr>
        </p15:guide>
        <p15:guide id="12" pos="5082" userDrawn="1">
          <p15:clr>
            <a:srgbClr val="FBAE40"/>
          </p15:clr>
        </p15:guide>
        <p15:guide id="13" pos="516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2 Inhalte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hapter_titleonly">
            <a:extLst>
              <a:ext uri="{FF2B5EF4-FFF2-40B4-BE49-F238E27FC236}">
                <a16:creationId xmlns:a16="http://schemas.microsoft.com/office/drawing/2014/main" id="{9398DDFA-1939-498B-8921-7DDB40481F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9200" y="259200"/>
            <a:ext cx="10450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B79D08E-37B8-49BA-9E18-ED577CD999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200" y="648000"/>
            <a:ext cx="10450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59200" y="1296000"/>
            <a:ext cx="104508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259200" y="3445201"/>
            <a:ext cx="104508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266700" y="5628640"/>
            <a:ext cx="288290" cy="410210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‹Nr.›</a:t>
            </a:fld>
            <a:endParaRPr lang="en-US" noProof="1"/>
          </a:p>
        </p:txBody>
      </p:sp>
      <p:pic>
        <p:nvPicPr>
          <p:cNvPr id="29" name="Grafik 3" descr="bottom_d2_169.png">
            <a:extLst>
              <a:ext uri="{FF2B5EF4-FFF2-40B4-BE49-F238E27FC236}">
                <a16:creationId xmlns:a16="http://schemas.microsoft.com/office/drawing/2014/main" id="{E1C644A7-78AF-407E-A25C-6F76F012AC1D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389"/>
            <a:ext cx="10970260" cy="12954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0" name="Grafik 29" descr="logo2_d2.png">
            <a:extLst>
              <a:ext uri="{FF2B5EF4-FFF2-40B4-BE49-F238E27FC236}">
                <a16:creationId xmlns:a16="http://schemas.microsoft.com/office/drawing/2014/main" id="{BF432EB7-B56F-491D-9D42-9FA89D925A5A}"/>
              </a:ext>
            </a:extLst>
          </p:cNvPr>
          <p:cNvPicPr>
            <a:picLocks noSel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2613"/>
            <a:ext cx="135936" cy="648000"/>
          </a:xfrm>
          <a:prstGeom prst="rect">
            <a:avLst/>
          </a:prstGeom>
        </p:spPr>
      </p:pic>
      <p:sp>
        <p:nvSpPr>
          <p:cNvPr id="12" name="Rectangle7">
            <a:extLst>
              <a:ext uri="{FF2B5EF4-FFF2-40B4-BE49-F238E27FC236}">
                <a16:creationId xmlns:a16="http://schemas.microsoft.com/office/drawing/2014/main" id="{2E7C0809-54C2-4B00-97B9-AEB55C54DF36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Bosch Office Sans" pitchFamily="2" charset="0"/>
              </a:rPr>
              <a:t> </a:t>
            </a:r>
          </a:p>
        </p:txBody>
      </p:sp>
      <p:pic>
        <p:nvPicPr>
          <p:cNvPr id="14" name="Grafik 4" descr="logo1_d2.png">
            <a:extLst>
              <a:ext uri="{FF2B5EF4-FFF2-40B4-BE49-F238E27FC236}">
                <a16:creationId xmlns:a16="http://schemas.microsoft.com/office/drawing/2014/main" id="{F944409F-1D53-436E-A382-254727DA7F5F}"/>
              </a:ext>
            </a:extLst>
          </p:cNvPr>
          <p:cNvPicPr>
            <a:picLocks noSel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956372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747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43" userDrawn="1">
          <p15:clr>
            <a:srgbClr val="FBAE40"/>
          </p15:clr>
        </p15:guide>
        <p15:guide id="8" orient="horz" pos="2090" userDrawn="1">
          <p15:clr>
            <a:srgbClr val="FBAE40"/>
          </p15:clr>
        </p15:guide>
        <p15:guide id="9" orient="horz" pos="2169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2 x 2 Inhal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hapter_titleonly">
            <a:extLst>
              <a:ext uri="{FF2B5EF4-FFF2-40B4-BE49-F238E27FC236}">
                <a16:creationId xmlns:a16="http://schemas.microsoft.com/office/drawing/2014/main" id="{90C8652B-1F43-4467-AC53-668A8D3D470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9200" y="259200"/>
            <a:ext cx="10450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EFDBB36D-E1FF-4336-B805-B8B7F4B25A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200" y="648000"/>
            <a:ext cx="10450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59200" y="1296000"/>
            <a:ext cx="48600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5853600" y="1295999"/>
            <a:ext cx="48600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259200" y="3445201"/>
            <a:ext cx="48600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half" idx="4" hasCustomPrompt="1"/>
          </p:nvPr>
        </p:nvSpPr>
        <p:spPr>
          <a:xfrm>
            <a:off x="5853600" y="3445201"/>
            <a:ext cx="48600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266700" y="5628640"/>
            <a:ext cx="288290" cy="410210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‹Nr.›</a:t>
            </a:fld>
            <a:endParaRPr lang="en-US" noProof="1"/>
          </a:p>
        </p:txBody>
      </p:sp>
      <p:pic>
        <p:nvPicPr>
          <p:cNvPr id="31" name="Grafik 3" descr="bottom_d2_169.png">
            <a:extLst>
              <a:ext uri="{FF2B5EF4-FFF2-40B4-BE49-F238E27FC236}">
                <a16:creationId xmlns:a16="http://schemas.microsoft.com/office/drawing/2014/main" id="{14946AFE-2563-4C40-963E-DFE36F6D3171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389"/>
            <a:ext cx="10970260" cy="12954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2" name="Grafik 31" descr="logo2_d2.png">
            <a:extLst>
              <a:ext uri="{FF2B5EF4-FFF2-40B4-BE49-F238E27FC236}">
                <a16:creationId xmlns:a16="http://schemas.microsoft.com/office/drawing/2014/main" id="{8A247A46-B0BA-49FE-BDE2-4F90A7348546}"/>
              </a:ext>
            </a:extLst>
          </p:cNvPr>
          <p:cNvPicPr>
            <a:picLocks noSel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2613"/>
            <a:ext cx="135936" cy="648000"/>
          </a:xfrm>
          <a:prstGeom prst="rect">
            <a:avLst/>
          </a:prstGeom>
        </p:spPr>
      </p:pic>
      <p:sp>
        <p:nvSpPr>
          <p:cNvPr id="14" name="Rectangle7">
            <a:extLst>
              <a:ext uri="{FF2B5EF4-FFF2-40B4-BE49-F238E27FC236}">
                <a16:creationId xmlns:a16="http://schemas.microsoft.com/office/drawing/2014/main" id="{43F0E5D0-784C-433E-AAB0-40D43C1BCBAB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Bosch Office Sans" pitchFamily="2" charset="0"/>
              </a:rPr>
              <a:t> </a:t>
            </a:r>
          </a:p>
        </p:txBody>
      </p:sp>
      <p:pic>
        <p:nvPicPr>
          <p:cNvPr id="16" name="Grafik 4" descr="logo1_d2.png">
            <a:extLst>
              <a:ext uri="{FF2B5EF4-FFF2-40B4-BE49-F238E27FC236}">
                <a16:creationId xmlns:a16="http://schemas.microsoft.com/office/drawing/2014/main" id="{17992435-2281-4D69-8E9C-A9BD8CD4504F}"/>
              </a:ext>
            </a:extLst>
          </p:cNvPr>
          <p:cNvPicPr>
            <a:picLocks noSel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519359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747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43" userDrawn="1">
          <p15:clr>
            <a:srgbClr val="FBAE40"/>
          </p15:clr>
        </p15:guide>
        <p15:guide id="8" orient="horz" pos="2090" userDrawn="1">
          <p15:clr>
            <a:srgbClr val="FBAE40"/>
          </p15:clr>
        </p15:guide>
        <p15:guide id="9" orient="horz" pos="2169" userDrawn="1">
          <p15:clr>
            <a:srgbClr val="FBAE40"/>
          </p15:clr>
        </p15:guide>
        <p15:guide id="10" pos="3225" userDrawn="1">
          <p15:clr>
            <a:srgbClr val="FBAE40"/>
          </p15:clr>
        </p15:guide>
        <p15:guide id="11" pos="3687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3 x 2 Inhal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hapter_titleonly">
            <a:extLst>
              <a:ext uri="{FF2B5EF4-FFF2-40B4-BE49-F238E27FC236}">
                <a16:creationId xmlns:a16="http://schemas.microsoft.com/office/drawing/2014/main" id="{FEDBFC76-9F59-4A18-8E8B-EDDF9CC208B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9200" y="259200"/>
            <a:ext cx="10450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0226D581-60F4-440B-A410-F6582BC0DC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200" y="648000"/>
            <a:ext cx="10450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59200" y="1296000"/>
            <a:ext cx="31284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3909600" y="1295999"/>
            <a:ext cx="31284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5" hasCustomPrompt="1"/>
          </p:nvPr>
        </p:nvSpPr>
        <p:spPr>
          <a:xfrm>
            <a:off x="7560000" y="1295999"/>
            <a:ext cx="31284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259200" y="3445201"/>
            <a:ext cx="31284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4" hasCustomPrompt="1"/>
          </p:nvPr>
        </p:nvSpPr>
        <p:spPr>
          <a:xfrm>
            <a:off x="3909600" y="3445201"/>
            <a:ext cx="31284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6" hasCustomPrompt="1"/>
          </p:nvPr>
        </p:nvSpPr>
        <p:spPr>
          <a:xfrm>
            <a:off x="7560000" y="3445201"/>
            <a:ext cx="31284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266700" y="5628640"/>
            <a:ext cx="288290" cy="410210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‹Nr.›</a:t>
            </a:fld>
            <a:endParaRPr lang="en-US" noProof="1"/>
          </a:p>
        </p:txBody>
      </p:sp>
      <p:pic>
        <p:nvPicPr>
          <p:cNvPr id="33" name="Grafik 3" descr="bottom_d2_169.png">
            <a:extLst>
              <a:ext uri="{FF2B5EF4-FFF2-40B4-BE49-F238E27FC236}">
                <a16:creationId xmlns:a16="http://schemas.microsoft.com/office/drawing/2014/main" id="{D68326DC-5F3B-4205-8352-8D213F6B12F1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389"/>
            <a:ext cx="10970260" cy="12954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4" name="Grafik 33" descr="logo2_d2.png">
            <a:extLst>
              <a:ext uri="{FF2B5EF4-FFF2-40B4-BE49-F238E27FC236}">
                <a16:creationId xmlns:a16="http://schemas.microsoft.com/office/drawing/2014/main" id="{6306B871-7048-4385-84D6-368540647FAF}"/>
              </a:ext>
            </a:extLst>
          </p:cNvPr>
          <p:cNvPicPr>
            <a:picLocks noSel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2613"/>
            <a:ext cx="135936" cy="648000"/>
          </a:xfrm>
          <a:prstGeom prst="rect">
            <a:avLst/>
          </a:prstGeom>
        </p:spPr>
      </p:pic>
      <p:sp>
        <p:nvSpPr>
          <p:cNvPr id="16" name="Rectangle7">
            <a:extLst>
              <a:ext uri="{FF2B5EF4-FFF2-40B4-BE49-F238E27FC236}">
                <a16:creationId xmlns:a16="http://schemas.microsoft.com/office/drawing/2014/main" id="{C680F8C7-4715-4E6C-829A-E87F16C03BB3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Bosch Office Sans" pitchFamily="2" charset="0"/>
              </a:rPr>
              <a:t> </a:t>
            </a:r>
          </a:p>
        </p:txBody>
      </p:sp>
      <p:pic>
        <p:nvPicPr>
          <p:cNvPr id="18" name="Grafik 4" descr="logo1_d2.png">
            <a:extLst>
              <a:ext uri="{FF2B5EF4-FFF2-40B4-BE49-F238E27FC236}">
                <a16:creationId xmlns:a16="http://schemas.microsoft.com/office/drawing/2014/main" id="{058025F0-4E5A-4419-90FC-FD31DB24C306}"/>
              </a:ext>
            </a:extLst>
          </p:cNvPr>
          <p:cNvPicPr>
            <a:picLocks noSel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4825772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747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43" userDrawn="1">
          <p15:clr>
            <a:srgbClr val="FBAE40"/>
          </p15:clr>
        </p15:guide>
        <p15:guide id="8" pos="2140" userDrawn="1">
          <p15:clr>
            <a:srgbClr val="FBAE40"/>
          </p15:clr>
        </p15:guide>
        <p15:guide id="9" pos="2457" userDrawn="1">
          <p15:clr>
            <a:srgbClr val="FBAE40"/>
          </p15:clr>
        </p15:guide>
        <p15:guide id="10" pos="4434" userDrawn="1">
          <p15:clr>
            <a:srgbClr val="FBAE40"/>
          </p15:clr>
        </p15:guide>
        <p15:guide id="11" pos="4761" userDrawn="1">
          <p15:clr>
            <a:srgbClr val="FBAE40"/>
          </p15:clr>
        </p15:guide>
        <p15:guide id="12" orient="horz" pos="2090" userDrawn="1">
          <p15:clr>
            <a:srgbClr val="FBAE40"/>
          </p15:clr>
        </p15:guide>
        <p15:guide id="13" orient="horz" pos="2169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4 x 2 Inhal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hapter_titleonly">
            <a:extLst>
              <a:ext uri="{FF2B5EF4-FFF2-40B4-BE49-F238E27FC236}">
                <a16:creationId xmlns:a16="http://schemas.microsoft.com/office/drawing/2014/main" id="{20D581F7-7281-48B4-B67B-7228F84F398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9200" y="259200"/>
            <a:ext cx="10450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C7544615-D17B-4350-B517-7E469AC91A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200" y="648000"/>
            <a:ext cx="10450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59200" y="1296000"/>
            <a:ext cx="25164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2905200" y="1295999"/>
            <a:ext cx="25164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7" hasCustomPrompt="1"/>
          </p:nvPr>
        </p:nvSpPr>
        <p:spPr>
          <a:xfrm>
            <a:off x="8197200" y="1295999"/>
            <a:ext cx="25164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259200" y="3445201"/>
            <a:ext cx="25164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4" hasCustomPrompt="1"/>
          </p:nvPr>
        </p:nvSpPr>
        <p:spPr>
          <a:xfrm>
            <a:off x="2905200" y="3445201"/>
            <a:ext cx="25164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8" hasCustomPrompt="1"/>
          </p:nvPr>
        </p:nvSpPr>
        <p:spPr>
          <a:xfrm>
            <a:off x="8197200" y="3445201"/>
            <a:ext cx="25164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266700" y="5628640"/>
            <a:ext cx="288290" cy="410210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‹Nr.›</a:t>
            </a:fld>
            <a:endParaRPr lang="en-US" noProof="1"/>
          </a:p>
        </p:txBody>
      </p:sp>
      <p:pic>
        <p:nvPicPr>
          <p:cNvPr id="33" name="Grafik 3" descr="bottom_d2_169.png">
            <a:extLst>
              <a:ext uri="{FF2B5EF4-FFF2-40B4-BE49-F238E27FC236}">
                <a16:creationId xmlns:a16="http://schemas.microsoft.com/office/drawing/2014/main" id="{D68326DC-5F3B-4205-8352-8D213F6B12F1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389"/>
            <a:ext cx="10970260" cy="12954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4" name="Grafik 33" descr="logo2_d2.png">
            <a:extLst>
              <a:ext uri="{FF2B5EF4-FFF2-40B4-BE49-F238E27FC236}">
                <a16:creationId xmlns:a16="http://schemas.microsoft.com/office/drawing/2014/main" id="{6306B871-7048-4385-84D6-368540647FAF}"/>
              </a:ext>
            </a:extLst>
          </p:cNvPr>
          <p:cNvPicPr>
            <a:picLocks noSel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2613"/>
            <a:ext cx="135936" cy="648000"/>
          </a:xfrm>
          <a:prstGeom prst="rect">
            <a:avLst/>
          </a:prstGeom>
        </p:spPr>
      </p:pic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58468F8D-277D-4F1A-84A1-62122010643F}"/>
              </a:ext>
            </a:extLst>
          </p:cNvPr>
          <p:cNvSpPr>
            <a:spLocks noGrp="1"/>
          </p:cNvSpPr>
          <p:nvPr>
            <p:ph sz="half" idx="5" hasCustomPrompt="1"/>
          </p:nvPr>
        </p:nvSpPr>
        <p:spPr>
          <a:xfrm>
            <a:off x="5551200" y="1296000"/>
            <a:ext cx="25164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B143799E-2832-49D7-9953-45BACACA7549}"/>
              </a:ext>
            </a:extLst>
          </p:cNvPr>
          <p:cNvSpPr>
            <a:spLocks noGrp="1"/>
          </p:cNvSpPr>
          <p:nvPr>
            <p:ph sz="half" idx="6" hasCustomPrompt="1"/>
          </p:nvPr>
        </p:nvSpPr>
        <p:spPr>
          <a:xfrm>
            <a:off x="5551200" y="3445200"/>
            <a:ext cx="25164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21" name="Rectangle7">
            <a:extLst>
              <a:ext uri="{FF2B5EF4-FFF2-40B4-BE49-F238E27FC236}">
                <a16:creationId xmlns:a16="http://schemas.microsoft.com/office/drawing/2014/main" id="{60F530EA-2EFB-4DC6-BA26-465D18FD265B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Bosch Office Sans" pitchFamily="2" charset="0"/>
              </a:rPr>
              <a:t> </a:t>
            </a:r>
          </a:p>
        </p:txBody>
      </p:sp>
      <p:pic>
        <p:nvPicPr>
          <p:cNvPr id="22" name="Grafik 4" descr="logo1_d2.png">
            <a:extLst>
              <a:ext uri="{FF2B5EF4-FFF2-40B4-BE49-F238E27FC236}">
                <a16:creationId xmlns:a16="http://schemas.microsoft.com/office/drawing/2014/main" id="{F7F706B3-07D4-410C-B7A6-C9E5735A9928}"/>
              </a:ext>
            </a:extLst>
          </p:cNvPr>
          <p:cNvPicPr>
            <a:picLocks noSel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3714214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747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43" userDrawn="1">
          <p15:clr>
            <a:srgbClr val="FBAE40"/>
          </p15:clr>
        </p15:guide>
        <p15:guide id="8" orient="horz" pos="2090" userDrawn="1">
          <p15:clr>
            <a:srgbClr val="FBAE40"/>
          </p15:clr>
        </p15:guide>
        <p15:guide id="9" orient="horz" pos="2169" userDrawn="1">
          <p15:clr>
            <a:srgbClr val="FBAE40"/>
          </p15:clr>
        </p15:guide>
        <p15:guide id="10" pos="1749" userDrawn="1">
          <p15:clr>
            <a:srgbClr val="FBAE40"/>
          </p15:clr>
        </p15:guide>
        <p15:guide id="11" pos="1830" userDrawn="1">
          <p15:clr>
            <a:srgbClr val="FBAE40"/>
          </p15:clr>
        </p15:guide>
        <p15:guide id="12" pos="3416" userDrawn="1">
          <p15:clr>
            <a:srgbClr val="FBAE40"/>
          </p15:clr>
        </p15:guide>
        <p15:guide id="13" pos="3497" userDrawn="1">
          <p15:clr>
            <a:srgbClr val="FBAE40"/>
          </p15:clr>
        </p15:guide>
        <p15:guide id="14" pos="5082" userDrawn="1">
          <p15:clr>
            <a:srgbClr val="FBAE40"/>
          </p15:clr>
        </p15:guide>
        <p15:guide id="15" pos="5163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66700" y="5628640"/>
            <a:ext cx="288290" cy="410210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‹Nr.›</a:t>
            </a:fld>
            <a:endParaRPr lang="en-US" noProof="1"/>
          </a:p>
        </p:txBody>
      </p:sp>
      <p:pic>
        <p:nvPicPr>
          <p:cNvPr id="9" name="Grafik 3" descr="bottom_d2_169.png">
            <a:extLst>
              <a:ext uri="{FF2B5EF4-FFF2-40B4-BE49-F238E27FC236}">
                <a16:creationId xmlns:a16="http://schemas.microsoft.com/office/drawing/2014/main" id="{EF316F00-ABDB-4F1C-8223-8689636D6D52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389"/>
            <a:ext cx="10970260" cy="12954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10" name="Grafik 9" descr="logo2_d2.png">
            <a:extLst>
              <a:ext uri="{FF2B5EF4-FFF2-40B4-BE49-F238E27FC236}">
                <a16:creationId xmlns:a16="http://schemas.microsoft.com/office/drawing/2014/main" id="{30CBBFCD-8992-45AF-92BD-7EBF3A86E1C1}"/>
              </a:ext>
            </a:extLst>
          </p:cNvPr>
          <p:cNvPicPr>
            <a:picLocks noSel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2613"/>
            <a:ext cx="135936" cy="648000"/>
          </a:xfrm>
          <a:prstGeom prst="rect">
            <a:avLst/>
          </a:prstGeom>
        </p:spPr>
      </p:pic>
      <p:sp>
        <p:nvSpPr>
          <p:cNvPr id="8" name="Rectangle7">
            <a:extLst>
              <a:ext uri="{FF2B5EF4-FFF2-40B4-BE49-F238E27FC236}">
                <a16:creationId xmlns:a16="http://schemas.microsoft.com/office/drawing/2014/main" id="{C868D9BE-A299-4D0B-87AF-B491FAE5FD28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Bosch Office Sans" pitchFamily="2" charset="0"/>
              </a:rPr>
              <a:t> </a:t>
            </a:r>
          </a:p>
        </p:txBody>
      </p:sp>
      <p:pic>
        <p:nvPicPr>
          <p:cNvPr id="11" name="Grafik 4" descr="logo1_d2.png">
            <a:extLst>
              <a:ext uri="{FF2B5EF4-FFF2-40B4-BE49-F238E27FC236}">
                <a16:creationId xmlns:a16="http://schemas.microsoft.com/office/drawing/2014/main" id="{0B4DD8A5-C16C-443A-8C22-A52B612231A5}"/>
              </a:ext>
            </a:extLst>
          </p:cNvPr>
          <p:cNvPicPr>
            <a:picLocks noSel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0745518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747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43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ollbildfoli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logo1_d2.png">
            <a:extLst>
              <a:ext uri="{FF2B5EF4-FFF2-40B4-BE49-F238E27FC236}">
                <a16:creationId xmlns:a16="http://schemas.microsoft.com/office/drawing/2014/main" id="{F35DC742-BC8F-47B5-88E2-93616D59A618}"/>
              </a:ext>
            </a:extLst>
          </p:cNvPr>
          <p:cNvPicPr>
            <a:picLocks noSel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6" name="Grafik 3" descr="right_d2.png">
            <a:extLst>
              <a:ext uri="{FF2B5EF4-FFF2-40B4-BE49-F238E27FC236}">
                <a16:creationId xmlns:a16="http://schemas.microsoft.com/office/drawing/2014/main" id="{2E1D2BC1-44DB-403E-B4D8-3E1DC5D199E5}"/>
              </a:ext>
            </a:extLst>
          </p:cNvPr>
          <p:cNvPicPr>
            <a:picLocks noSel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0940" y="2"/>
            <a:ext cx="129600" cy="617092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273178664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b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5" descr="bg3_d2_169.png"/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" y="2"/>
            <a:ext cx="10969509" cy="6170929"/>
          </a:xfrm>
          <a:prstGeom prst="rect">
            <a:avLst/>
          </a:prstGeom>
          <a:ln w="0">
            <a:noFill/>
          </a:ln>
          <a:effectLst/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D60E046F-66D0-431E-9C49-8E6C18C3F3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59200" y="259200"/>
            <a:ext cx="9874800" cy="5205600"/>
          </a:xfrm>
          <a:ln w="0">
            <a:noFill/>
          </a:ln>
          <a:effectLst/>
        </p:spPr>
        <p:txBody>
          <a:bodyPr anchor="t" anchorCtr="0"/>
          <a:lstStyle>
            <a:lvl1pPr algn="l">
              <a:lnSpc>
                <a:spcPct val="90000"/>
              </a:lnSpc>
              <a:defRPr sz="8000" kern="1200" cap="all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Abschluss­worte hinzufügen</a:t>
            </a:r>
          </a:p>
        </p:txBody>
      </p:sp>
      <p:pic>
        <p:nvPicPr>
          <p:cNvPr id="6" name="Grafik 4" descr="logo1_d2.png">
            <a:extLst>
              <a:ext uri="{FF2B5EF4-FFF2-40B4-BE49-F238E27FC236}">
                <a16:creationId xmlns:a16="http://schemas.microsoft.com/office/drawing/2014/main" id="{AD329951-67FC-4FE1-85D1-D4AEA8479C0D}"/>
              </a:ext>
            </a:extLst>
          </p:cNvPr>
          <p:cNvPicPr>
            <a:picLocks noSel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9" name="Grafik 3" descr="right_d2.png">
            <a:extLst>
              <a:ext uri="{FF2B5EF4-FFF2-40B4-BE49-F238E27FC236}">
                <a16:creationId xmlns:a16="http://schemas.microsoft.com/office/drawing/2014/main" id="{7AD5F0A5-2B17-4D20-B0E6-B4F0FA977516}"/>
              </a:ext>
            </a:extLst>
          </p:cNvPr>
          <p:cNvPicPr>
            <a:picLocks noSel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0940" y="2"/>
            <a:ext cx="129600" cy="617092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7379696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3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3443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00" y="648000"/>
            <a:ext cx="10450800" cy="388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1"/>
              <a:t>Mastertitelformat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9200" y="1296000"/>
            <a:ext cx="10450800" cy="4168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1"/>
              <a:t>Mastertextformat bearbeiten</a:t>
            </a:r>
          </a:p>
          <a:p>
            <a:pPr lvl="1"/>
            <a:r>
              <a:rPr lang="de-DE" noProof="1"/>
              <a:t>Zweite Ebene</a:t>
            </a:r>
          </a:p>
          <a:p>
            <a:pPr lvl="2"/>
            <a:r>
              <a:rPr lang="de-DE" noProof="1"/>
              <a:t>Dritte Ebene</a:t>
            </a:r>
          </a:p>
          <a:p>
            <a:pPr lvl="3"/>
            <a:r>
              <a:rPr lang="de-DE" noProof="1"/>
              <a:t>Vierte Ebene</a:t>
            </a:r>
          </a:p>
          <a:p>
            <a:pPr lvl="4"/>
            <a:r>
              <a:rPr lang="de-DE" noProof="1"/>
              <a:t>Fünfte Ebene</a:t>
            </a:r>
            <a:endParaRPr lang="en-US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266700" y="5628640"/>
            <a:ext cx="288290" cy="41021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>
                <a:solidFill>
                  <a:srgbClr val="999FA6"/>
                </a:solidFill>
                <a:latin typeface="+mn-lt"/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‹Nr.›</a:t>
            </a:fld>
            <a:endParaRPr lang="en-US" noProof="1"/>
          </a:p>
        </p:txBody>
      </p:sp>
      <p:sp>
        <p:nvSpPr>
          <p:cNvPr id="5" name="Bosch_footer_1">
            <a:extLst>
              <a:ext uri="{FF2B5EF4-FFF2-40B4-BE49-F238E27FC236}">
                <a16:creationId xmlns:a16="http://schemas.microsoft.com/office/drawing/2014/main" id="{C4A0DCBC-1EFB-43C4-AF00-AB85781F48E7}"/>
              </a:ext>
            </a:extLst>
          </p:cNvPr>
          <p:cNvSpPr txBox="1"/>
          <p:nvPr userDrawn="1"/>
        </p:nvSpPr>
        <p:spPr>
          <a:xfrm>
            <a:off x="593090" y="5643880"/>
            <a:ext cx="9152890" cy="1079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en-US" sz="600" b="1" i="0" u="none" strike="noStrike" kern="0" cap="none" spc="0" normalizeH="0" baseline="0" noProof="1">
                <a:ln>
                  <a:noFill/>
                </a:ln>
                <a:solidFill>
                  <a:srgbClr val="D70012"/>
                </a:solidFill>
                <a:effectLst/>
                <a:uLnTx/>
                <a:uFillTx/>
                <a:latin typeface="Bosch Office Sans" pitchFamily="2" charset="0"/>
              </a:rPr>
              <a:t>Intern</a:t>
            </a:r>
            <a:r>
              <a:rPr kumimoji="0" lang="en-US" sz="600" b="0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 pitchFamily="2" charset="0"/>
              </a:rPr>
              <a:t> | CR/AMP3 | 31.08.2021</a:t>
            </a:r>
          </a:p>
        </p:txBody>
      </p:sp>
      <p:sp>
        <p:nvSpPr>
          <p:cNvPr id="8" name="Bosch_footer_2">
            <a:extLst>
              <a:ext uri="{FF2B5EF4-FFF2-40B4-BE49-F238E27FC236}">
                <a16:creationId xmlns:a16="http://schemas.microsoft.com/office/drawing/2014/main" id="{C3D77AD5-379C-4A86-AFCF-32945A0FEE26}"/>
              </a:ext>
            </a:extLst>
          </p:cNvPr>
          <p:cNvSpPr txBox="1"/>
          <p:nvPr userDrawn="1"/>
        </p:nvSpPr>
        <p:spPr>
          <a:xfrm>
            <a:off x="593090" y="5748656"/>
            <a:ext cx="9152890" cy="215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0000"/>
              </a:lnSpc>
              <a:spcAft>
                <a:spcPts val="100"/>
              </a:spcAft>
            </a:pPr>
            <a:r>
              <a:rPr lang="de-DE" sz="600" b="0" i="0" u="none" kern="0" baseline="0" noProof="1">
                <a:solidFill>
                  <a:srgbClr val="B2B3B5"/>
                </a:solidFill>
                <a:latin typeface="Bosch Office Sans" pitchFamily="2" charset="0"/>
              </a:rPr>
              <a:t>© Robert Bosch GmbH 2021. Alle Rechte vorbehalten, auch bzgl. jeder Verfügung, Verwertung, Reproduktion, Bearbeitung, Weitergabe sowie für den Fall von Schutzrechtsanmeldungen.</a:t>
            </a:r>
            <a:endParaRPr lang="en-US" sz="600" b="0" i="0" u="none" kern="0" baseline="0" noProof="1">
              <a:solidFill>
                <a:srgbClr val="B2B3B5"/>
              </a:solidFill>
              <a:latin typeface="Bosch Office Sans" pitchFamily="2" charset="0"/>
            </a:endParaRPr>
          </a:p>
        </p:txBody>
      </p:sp>
      <p:sp>
        <p:nvSpPr>
          <p:cNvPr id="9" name="Bosch_footer_2" hidden="1">
            <a:extLst>
              <a:ext uri="{FF2B5EF4-FFF2-40B4-BE49-F238E27FC236}">
                <a16:creationId xmlns:a16="http://schemas.microsoft.com/office/drawing/2014/main" id="{E897C98A-4665-443F-B1CF-E9B71E9916EC}"/>
              </a:ext>
            </a:extLst>
          </p:cNvPr>
          <p:cNvSpPr txBox="1"/>
          <p:nvPr userDrawn="1"/>
        </p:nvSpPr>
        <p:spPr>
          <a:xfrm>
            <a:off x="593090" y="5748656"/>
            <a:ext cx="9152890" cy="215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0000"/>
              </a:lnSpc>
              <a:spcAft>
                <a:spcPts val="100"/>
              </a:spcAft>
            </a:pPr>
            <a:r>
              <a:rPr lang="en-US" sz="600" kern="0" baseline="0" noProof="1">
                <a:solidFill>
                  <a:schemeClr val="tx1"/>
                </a:solidFill>
              </a:rPr>
              <a:t>%repositoryremark%</a:t>
            </a:r>
            <a:r>
              <a:rPr lang="en-US" sz="600" kern="0" baseline="0" noProof="1">
                <a:solidFill>
                  <a:srgbClr val="B2B3B5"/>
                </a:solidFill>
              </a:rPr>
              <a:t>%copyright%</a:t>
            </a:r>
          </a:p>
        </p:txBody>
      </p:sp>
      <p:sp>
        <p:nvSpPr>
          <p:cNvPr id="10" name="Bosch_footer_1" hidden="1">
            <a:extLst>
              <a:ext uri="{FF2B5EF4-FFF2-40B4-BE49-F238E27FC236}">
                <a16:creationId xmlns:a16="http://schemas.microsoft.com/office/drawing/2014/main" id="{BB7EB8EC-2C22-471E-A5D4-B578263D307B}"/>
              </a:ext>
            </a:extLst>
          </p:cNvPr>
          <p:cNvSpPr txBox="1"/>
          <p:nvPr userDrawn="1"/>
        </p:nvSpPr>
        <p:spPr>
          <a:xfrm>
            <a:off x="594000" y="5644800"/>
            <a:ext cx="9154800" cy="108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</a:rPr>
              <a:t>%confidentiality%</a:t>
            </a:r>
            <a:r>
              <a:rPr lang="en-US" sz="600" kern="0" baseline="0" noProof="1">
                <a:solidFill>
                  <a:schemeClr val="tx1"/>
                </a:solidFill>
              </a:rPr>
              <a:t>%businessunit%%departmentshort%%dateformat%</a:t>
            </a:r>
          </a:p>
        </p:txBody>
      </p:sp>
    </p:spTree>
    <p:extLst>
      <p:ext uri="{BB962C8B-B14F-4D97-AF65-F5344CB8AC3E}">
        <p14:creationId xmlns:p14="http://schemas.microsoft.com/office/powerpoint/2010/main" val="851553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41" r:id="rId2"/>
    <p:sldLayoutId id="2147483742" r:id="rId3"/>
    <p:sldLayoutId id="2147483713" r:id="rId4"/>
    <p:sldLayoutId id="2147483743" r:id="rId5"/>
    <p:sldLayoutId id="2147483721" r:id="rId6"/>
    <p:sldLayoutId id="2147483747" r:id="rId7"/>
    <p:sldLayoutId id="2147483723" r:id="rId8"/>
    <p:sldLayoutId id="2147483746" r:id="rId9"/>
    <p:sldLayoutId id="2147483744" r:id="rId10"/>
    <p:sldLayoutId id="2147483724" r:id="rId11"/>
    <p:sldLayoutId id="2147483726" r:id="rId12"/>
    <p:sldLayoutId id="2147483727" r:id="rId13"/>
    <p:sldLayoutId id="2147483728" r:id="rId14"/>
    <p:sldLayoutId id="2147483729" r:id="rId15"/>
    <p:sldLayoutId id="2147483745" r:id="rId16"/>
    <p:sldLayoutId id="2147483734" r:id="rId17"/>
    <p:sldLayoutId id="2147483731" r:id="rId18"/>
    <p:sldLayoutId id="2147483712" r:id="rId19"/>
  </p:sldLayoutIdLst>
  <p:hf hdr="0" ftr="0" dt="0"/>
  <p:txStyles>
    <p:titleStyle>
      <a:lvl1pPr algn="l" defTabSz="914333" rtl="0" eaLnBrk="1" latinLnBrk="0" hangingPunct="1">
        <a:lnSpc>
          <a:spcPct val="89000"/>
        </a:lnSpc>
        <a:spcBef>
          <a:spcPct val="0"/>
        </a:spcBef>
        <a:buNone/>
        <a:defRPr sz="28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51982" indent="-251982" algn="l" defTabSz="914333" rtl="0" eaLnBrk="1" latinLnBrk="0" hangingPunct="1">
        <a:lnSpc>
          <a:spcPct val="107000"/>
        </a:lnSpc>
        <a:spcBef>
          <a:spcPts val="500"/>
        </a:spcBef>
        <a:buFont typeface="Wingdings 3" panose="05040102010807070707" pitchFamily="18" charset="2"/>
        <a:buChar char="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7563" indent="-273580" algn="l" defTabSz="914333" rtl="0" eaLnBrk="1" latinLnBrk="0" hangingPunct="1">
        <a:lnSpc>
          <a:spcPct val="103000"/>
        </a:lnSpc>
        <a:spcBef>
          <a:spcPts val="500"/>
        </a:spcBef>
        <a:buFont typeface="Wingdings 3" panose="05040102010807070707" pitchFamily="18" charset="2"/>
        <a:buChar char="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0746" indent="-205185" algn="l" defTabSz="914333" rtl="0" eaLnBrk="1" latinLnBrk="0" hangingPunct="1">
        <a:lnSpc>
          <a:spcPct val="102000"/>
        </a:lnSpc>
        <a:spcBef>
          <a:spcPts val="500"/>
        </a:spcBef>
        <a:buFont typeface="Bosch Office Sans" pitchFamily="2" charset="0"/>
        <a:buChar char="‒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32331" indent="-183586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932331" indent="-183586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932331" indent="-183586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932331" indent="-183586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932331" indent="-183586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932331" indent="-183586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6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3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9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5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2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8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5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32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13" Type="http://schemas.openxmlformats.org/officeDocument/2006/relationships/image" Target="../media/image13.png"/><Relationship Id="rId3" Type="http://schemas.openxmlformats.org/officeDocument/2006/relationships/tags" Target="../tags/tag3.xml"/><Relationship Id="rId7" Type="http://schemas.openxmlformats.org/officeDocument/2006/relationships/notesSlide" Target="../notesSlides/notesSlide1.xml"/><Relationship Id="rId12" Type="http://schemas.openxmlformats.org/officeDocument/2006/relationships/image" Target="../media/image12.png"/><Relationship Id="rId2" Type="http://schemas.openxmlformats.org/officeDocument/2006/relationships/tags" Target="../tags/tag2.xml"/><Relationship Id="rId1" Type="http://schemas.openxmlformats.org/officeDocument/2006/relationships/vmlDrawing" Target="../drawings/vmlDrawing1.vml"/><Relationship Id="rId6" Type="http://schemas.openxmlformats.org/officeDocument/2006/relationships/slideLayout" Target="../slideLayouts/slideLayout9.xml"/><Relationship Id="rId11" Type="http://schemas.openxmlformats.org/officeDocument/2006/relationships/image" Target="../media/image11.png"/><Relationship Id="rId5" Type="http://schemas.openxmlformats.org/officeDocument/2006/relationships/tags" Target="../tags/tag5.xml"/><Relationship Id="rId10" Type="http://schemas.openxmlformats.org/officeDocument/2006/relationships/image" Target="../media/image10.png"/><Relationship Id="rId4" Type="http://schemas.openxmlformats.org/officeDocument/2006/relationships/tags" Target="../tags/tag4.xml"/><Relationship Id="rId9" Type="http://schemas.openxmlformats.org/officeDocument/2006/relationships/image" Target="../media/image9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13" Type="http://schemas.openxmlformats.org/officeDocument/2006/relationships/image" Target="../media/image18.png"/><Relationship Id="rId3" Type="http://schemas.openxmlformats.org/officeDocument/2006/relationships/tags" Target="../tags/tag8.xml"/><Relationship Id="rId7" Type="http://schemas.openxmlformats.org/officeDocument/2006/relationships/slideLayout" Target="../slideLayouts/slideLayout9.xml"/><Relationship Id="rId12" Type="http://schemas.openxmlformats.org/officeDocument/2006/relationships/image" Target="../media/image17.png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tags" Target="../tags/tag11.xml"/><Relationship Id="rId11" Type="http://schemas.openxmlformats.org/officeDocument/2006/relationships/image" Target="../media/image16.png"/><Relationship Id="rId5" Type="http://schemas.openxmlformats.org/officeDocument/2006/relationships/tags" Target="../tags/tag10.xml"/><Relationship Id="rId10" Type="http://schemas.openxmlformats.org/officeDocument/2006/relationships/image" Target="../media/image15.png"/><Relationship Id="rId4" Type="http://schemas.openxmlformats.org/officeDocument/2006/relationships/tags" Target="../tags/tag9.xml"/><Relationship Id="rId9" Type="http://schemas.openxmlformats.org/officeDocument/2006/relationships/image" Target="../media/image14.png"/><Relationship Id="rId1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15.xml"/><Relationship Id="rId13" Type="http://schemas.openxmlformats.org/officeDocument/2006/relationships/image" Target="../media/image20.png"/><Relationship Id="rId18" Type="http://schemas.openxmlformats.org/officeDocument/2006/relationships/image" Target="../media/image25.png"/><Relationship Id="rId3" Type="http://schemas.microsoft.com/office/2007/relationships/media" Target="../media/media1.gif"/><Relationship Id="rId21" Type="http://schemas.openxmlformats.org/officeDocument/2006/relationships/image" Target="../media/image28.png"/><Relationship Id="rId7" Type="http://schemas.openxmlformats.org/officeDocument/2006/relationships/tags" Target="../tags/tag14.xml"/><Relationship Id="rId12" Type="http://schemas.openxmlformats.org/officeDocument/2006/relationships/notesSlide" Target="../notesSlides/notesSlide3.xml"/><Relationship Id="rId17" Type="http://schemas.openxmlformats.org/officeDocument/2006/relationships/image" Target="../media/image24.png"/><Relationship Id="rId2" Type="http://schemas.openxmlformats.org/officeDocument/2006/relationships/tags" Target="../tags/tag13.xml"/><Relationship Id="rId16" Type="http://schemas.openxmlformats.org/officeDocument/2006/relationships/image" Target="../media/image23.png"/><Relationship Id="rId20" Type="http://schemas.openxmlformats.org/officeDocument/2006/relationships/image" Target="../media/image27.png"/><Relationship Id="rId1" Type="http://schemas.openxmlformats.org/officeDocument/2006/relationships/tags" Target="../tags/tag12.xml"/><Relationship Id="rId6" Type="http://schemas.openxmlformats.org/officeDocument/2006/relationships/video" Target="../media/media2.gif"/><Relationship Id="rId11" Type="http://schemas.openxmlformats.org/officeDocument/2006/relationships/slideLayout" Target="../slideLayouts/slideLayout9.xml"/><Relationship Id="rId5" Type="http://schemas.microsoft.com/office/2007/relationships/media" Target="../media/media2.gif"/><Relationship Id="rId15" Type="http://schemas.openxmlformats.org/officeDocument/2006/relationships/image" Target="../media/image22.png"/><Relationship Id="rId10" Type="http://schemas.openxmlformats.org/officeDocument/2006/relationships/tags" Target="../tags/tag17.xml"/><Relationship Id="rId19" Type="http://schemas.openxmlformats.org/officeDocument/2006/relationships/image" Target="../media/image26.png"/><Relationship Id="rId4" Type="http://schemas.openxmlformats.org/officeDocument/2006/relationships/video" Target="../media/media1.gif"/><Relationship Id="rId9" Type="http://schemas.openxmlformats.org/officeDocument/2006/relationships/tags" Target="../tags/tag16.xml"/><Relationship Id="rId1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13" Type="http://schemas.openxmlformats.org/officeDocument/2006/relationships/image" Target="../media/image31.png"/><Relationship Id="rId18" Type="http://schemas.openxmlformats.org/officeDocument/2006/relationships/image" Target="../media/image28.png"/><Relationship Id="rId3" Type="http://schemas.openxmlformats.org/officeDocument/2006/relationships/tags" Target="../tags/tag20.xml"/><Relationship Id="rId21" Type="http://schemas.openxmlformats.org/officeDocument/2006/relationships/image" Target="../media/image37.png"/><Relationship Id="rId7" Type="http://schemas.openxmlformats.org/officeDocument/2006/relationships/tags" Target="../tags/tag24.xml"/><Relationship Id="rId12" Type="http://schemas.openxmlformats.org/officeDocument/2006/relationships/image" Target="../media/image30.png"/><Relationship Id="rId17" Type="http://schemas.openxmlformats.org/officeDocument/2006/relationships/image" Target="../media/image35.png"/><Relationship Id="rId2" Type="http://schemas.openxmlformats.org/officeDocument/2006/relationships/tags" Target="../tags/tag19.xml"/><Relationship Id="rId16" Type="http://schemas.openxmlformats.org/officeDocument/2006/relationships/image" Target="../media/image34.png"/><Relationship Id="rId20" Type="http://schemas.openxmlformats.org/officeDocument/2006/relationships/image" Target="../media/image36.png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image" Target="../media/image29.png"/><Relationship Id="rId5" Type="http://schemas.openxmlformats.org/officeDocument/2006/relationships/tags" Target="../tags/tag22.xml"/><Relationship Id="rId15" Type="http://schemas.openxmlformats.org/officeDocument/2006/relationships/image" Target="../media/image33.png"/><Relationship Id="rId10" Type="http://schemas.openxmlformats.org/officeDocument/2006/relationships/notesSlide" Target="../notesSlides/notesSlide4.xml"/><Relationship Id="rId19" Type="http://schemas.openxmlformats.org/officeDocument/2006/relationships/image" Target="../media/image20.png"/><Relationship Id="rId4" Type="http://schemas.openxmlformats.org/officeDocument/2006/relationships/tags" Target="../tags/tag21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hyperlink" Target="file:///\\Fe00fs45.de.bosch.com\hro7rng$\ausarbeitung_micromechanicalfatiguesimulations-phaseanalysis\TexFiles\main.pdf" TargetMode="Externa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D82EB9-F888-4EF5-9BD3-4FB532D116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de-DE" sz="6600" dirty="0" err="1"/>
              <a:t>Micromechanical</a:t>
            </a:r>
            <a:r>
              <a:rPr lang="de-DE" sz="6600" dirty="0"/>
              <a:t> Fatigue Simulation : Phase </a:t>
            </a:r>
            <a:r>
              <a:rPr lang="de-DE" sz="6600" dirty="0" err="1"/>
              <a:t>influence</a:t>
            </a:r>
            <a:r>
              <a:rPr lang="de-DE" sz="6600" dirty="0"/>
              <a:t> Analysis</a:t>
            </a:r>
            <a:br>
              <a:rPr lang="de-DE" sz="6600" dirty="0"/>
            </a:br>
            <a:r>
              <a:rPr lang="de-DE" sz="2000" dirty="0"/>
              <a:t>02.09.2021 – Update zum Status Masterarbeit von Roman Hofmann</a:t>
            </a:r>
            <a:endParaRPr lang="de-DE" sz="6600" dirty="0"/>
          </a:p>
        </p:txBody>
      </p:sp>
    </p:spTree>
    <p:extLst>
      <p:ext uri="{BB962C8B-B14F-4D97-AF65-F5344CB8AC3E}">
        <p14:creationId xmlns:p14="http://schemas.microsoft.com/office/powerpoint/2010/main" val="22197877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33A3432-C124-4552-899C-1E1F5EC6A181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de-DE" dirty="0"/>
              <a:t>Update – was wurde gemacht</a:t>
            </a:r>
          </a:p>
          <a:p>
            <a:r>
              <a:rPr lang="de-DE" dirty="0"/>
              <a:t>Einführung Theorie</a:t>
            </a:r>
          </a:p>
          <a:p>
            <a:r>
              <a:rPr lang="de-DE" dirty="0"/>
              <a:t>Ausarbeitung Inhalt der Grundlagen</a:t>
            </a:r>
          </a:p>
          <a:p>
            <a:r>
              <a:rPr lang="de-DE" dirty="0"/>
              <a:t>Nächste Schritte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543974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A27D6ADA-F5E0-4499-AD61-C694DEAEE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August 2021 – Was wurde gemacht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1179D536-B132-4EB0-9320-3B7DA6DA697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Update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48F390C9-36FB-40EA-BFEA-E3064F1CF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3</a:t>
            </a:fld>
            <a:endParaRPr lang="en-US" noProof="1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84EDCD89-87E0-4E94-AAC7-D5F41F16A80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de-DE" dirty="0"/>
              <a:t>Erste Einarbeitung</a:t>
            </a:r>
          </a:p>
          <a:p>
            <a:pPr lvl="1"/>
            <a:r>
              <a:rPr lang="de-DE" dirty="0"/>
              <a:t>Einrichtung des PCs</a:t>
            </a:r>
          </a:p>
          <a:p>
            <a:pPr lvl="2"/>
            <a:r>
              <a:rPr lang="de-DE" dirty="0"/>
              <a:t>Aufbringen Software für Simulation, Programmierung und Auswertung</a:t>
            </a:r>
          </a:p>
          <a:p>
            <a:pPr lvl="2"/>
            <a:r>
              <a:rPr lang="de-DE" dirty="0"/>
              <a:t>Zugriffe auf benötigte Systeme erstellt (HPC, GIT)</a:t>
            </a:r>
          </a:p>
          <a:p>
            <a:pPr lvl="1"/>
            <a:r>
              <a:rPr lang="de-DE" dirty="0"/>
              <a:t>Einführung Theorie</a:t>
            </a:r>
          </a:p>
          <a:p>
            <a:pPr lvl="2"/>
            <a:r>
              <a:rPr lang="de-DE" dirty="0"/>
              <a:t>Kristallplastizität</a:t>
            </a:r>
          </a:p>
          <a:p>
            <a:pPr lvl="2"/>
            <a:r>
              <a:rPr lang="de-DE" dirty="0"/>
              <a:t>Fatigue </a:t>
            </a:r>
            <a:r>
              <a:rPr lang="de-DE" dirty="0" err="1"/>
              <a:t>Indicator</a:t>
            </a:r>
            <a:r>
              <a:rPr lang="de-DE" dirty="0"/>
              <a:t> Parameter</a:t>
            </a:r>
          </a:p>
          <a:p>
            <a:pPr lvl="2"/>
            <a:r>
              <a:rPr lang="en-US" dirty="0"/>
              <a:t>Geometric representations of polycrystalline materials (</a:t>
            </a:r>
            <a:r>
              <a:rPr lang="en-US" dirty="0" err="1"/>
              <a:t>Mikrostrukturgenerierung</a:t>
            </a:r>
            <a:r>
              <a:rPr lang="en-US" dirty="0"/>
              <a:t>)</a:t>
            </a:r>
            <a:endParaRPr lang="de-DE" dirty="0"/>
          </a:p>
          <a:p>
            <a:pPr lvl="1"/>
            <a:r>
              <a:rPr lang="de-DE" dirty="0"/>
              <a:t>Einführung Code Mikrostrukturgenerierung und Modellgenerierung / </a:t>
            </a:r>
            <a:r>
              <a:rPr lang="de-DE" dirty="0" err="1"/>
              <a:t>Social</a:t>
            </a:r>
            <a:r>
              <a:rPr lang="de-DE" dirty="0"/>
              <a:t> Coding</a:t>
            </a:r>
          </a:p>
          <a:p>
            <a:pPr lvl="2"/>
            <a:r>
              <a:rPr lang="de-DE" dirty="0"/>
              <a:t>Erstellen von Mikrostrukturen </a:t>
            </a:r>
          </a:p>
          <a:p>
            <a:pPr lvl="2"/>
            <a:r>
              <a:rPr lang="de-DE" dirty="0"/>
              <a:t>Probeweise erste Berechnungen durchführen</a:t>
            </a:r>
          </a:p>
          <a:p>
            <a:r>
              <a:rPr lang="de-DE" dirty="0"/>
              <a:t>Programmieren von Schnittstellen </a:t>
            </a:r>
          </a:p>
          <a:p>
            <a:pPr lvl="1"/>
            <a:r>
              <a:rPr lang="de-DE" dirty="0"/>
              <a:t>Mikrostrukturgenerierung mithilfe </a:t>
            </a:r>
            <a:r>
              <a:rPr lang="de-DE" dirty="0" err="1"/>
              <a:t>Laguerre</a:t>
            </a:r>
            <a:r>
              <a:rPr lang="de-DE" dirty="0"/>
              <a:t> </a:t>
            </a:r>
            <a:r>
              <a:rPr lang="de-DE" dirty="0" err="1"/>
              <a:t>Tesselierung</a:t>
            </a:r>
            <a:r>
              <a:rPr lang="de-DE" dirty="0"/>
              <a:t> in Workflow der Modellgenerierung einbinden</a:t>
            </a:r>
          </a:p>
          <a:p>
            <a:pPr lvl="1"/>
            <a:r>
              <a:rPr lang="de-DE" dirty="0"/>
              <a:t>Generierung von benötigten Dateien für FEM oder FFT Analyse</a:t>
            </a:r>
          </a:p>
          <a:p>
            <a:pPr marL="233983" lvl="1" indent="0">
              <a:buNone/>
            </a:pPr>
            <a:endParaRPr lang="de-DE" dirty="0"/>
          </a:p>
          <a:p>
            <a:pPr lvl="1"/>
            <a:endParaRPr lang="de-DE" dirty="0"/>
          </a:p>
          <a:p>
            <a:pPr lvl="2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68870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>
            <a:extLst>
              <a:ext uri="{FF2B5EF4-FFF2-40B4-BE49-F238E27FC236}">
                <a16:creationId xmlns:a16="http://schemas.microsoft.com/office/drawing/2014/main" id="{68A86608-C4DB-4B64-96E9-9BC4E0242B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947590"/>
              </p:ext>
            </p:extLst>
          </p:nvPr>
        </p:nvGraphicFramePr>
        <p:xfrm>
          <a:off x="957675" y="2852669"/>
          <a:ext cx="3504598" cy="13535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4" name="Acrobat Document" r:id="rId8" imgW="6362671" imgH="2457450" progId="AcroExch.Document.DC">
                  <p:embed/>
                </p:oleObj>
              </mc:Choice>
              <mc:Fallback>
                <p:oleObj name="Acrobat Document" r:id="rId8" imgW="6362671" imgH="2457450" progId="AcroExch.Document.DC">
                  <p:embed/>
                  <p:pic>
                    <p:nvPicPr>
                      <p:cNvPr id="6" name="Objekt 5">
                        <a:extLst>
                          <a:ext uri="{FF2B5EF4-FFF2-40B4-BE49-F238E27FC236}">
                            <a16:creationId xmlns:a16="http://schemas.microsoft.com/office/drawing/2014/main" id="{0B476049-A8AE-4FEB-A6FA-EE7ABD2739B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957675" y="2852669"/>
                        <a:ext cx="3504598" cy="13535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1640F8BD-A00E-4AC4-B1AD-B49E0E7E6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Kristallplastizität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24DA5DF-D980-4D5E-AC30-E89004D40BA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Theorie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AD8CBBF-99AF-4E84-8A21-DB6226F8B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4</a:t>
            </a:fld>
            <a:endParaRPr lang="en-US" noProof="1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4D45DA40-AF28-4CE0-9390-B26558BEA2E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58762" y="1296000"/>
            <a:ext cx="4913084" cy="3085805"/>
          </a:xfrm>
        </p:spPr>
        <p:txBody>
          <a:bodyPr/>
          <a:lstStyle/>
          <a:p>
            <a:r>
              <a:rPr lang="de-DE" dirty="0"/>
              <a:t>Plastische Verformungen über Versetzungsgleiten auf Gleitsystemen</a:t>
            </a:r>
          </a:p>
          <a:p>
            <a:r>
              <a:rPr lang="de-DE" dirty="0"/>
              <a:t>Gleitsysteme abhängig von Kristallstruktur</a:t>
            </a:r>
          </a:p>
          <a:p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r>
              <a:rPr lang="de-DE" dirty="0"/>
              <a:t>Verwendeter Ansatz: </a:t>
            </a:r>
            <a:br>
              <a:rPr lang="de-DE" dirty="0"/>
            </a:br>
            <a:r>
              <a:rPr lang="de-DE" dirty="0"/>
              <a:t>phänomenologisch motiviertes Modell</a:t>
            </a:r>
          </a:p>
          <a:p>
            <a:endParaRPr lang="de-DE" dirty="0"/>
          </a:p>
          <a:p>
            <a:pPr lvl="1"/>
            <a:endParaRPr lang="de-DE" dirty="0"/>
          </a:p>
        </p:txBody>
      </p:sp>
      <p:sp>
        <p:nvSpPr>
          <p:cNvPr id="8" name="Inhaltsplatzhalter 4">
            <a:extLst>
              <a:ext uri="{FF2B5EF4-FFF2-40B4-BE49-F238E27FC236}">
                <a16:creationId xmlns:a16="http://schemas.microsoft.com/office/drawing/2014/main" id="{D03BD39F-5908-4DC6-A614-2462D8F45E47}"/>
              </a:ext>
            </a:extLst>
          </p:cNvPr>
          <p:cNvSpPr txBox="1">
            <a:spLocks/>
          </p:cNvSpPr>
          <p:nvPr/>
        </p:nvSpPr>
        <p:spPr>
          <a:xfrm>
            <a:off x="5796916" y="870854"/>
            <a:ext cx="4913084" cy="396363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51982" indent="-251982" algn="l" defTabSz="914333" rtl="0" eaLnBrk="1" latinLnBrk="0" hangingPunct="1">
              <a:lnSpc>
                <a:spcPct val="107000"/>
              </a:lnSpc>
              <a:spcBef>
                <a:spcPts val="500"/>
              </a:spcBef>
              <a:buFont typeface="Wingdings 3" panose="05040102010807070707" pitchFamily="18" charset="2"/>
              <a:buChar char="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7563" indent="-273580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Wingdings 3" panose="05040102010807070707" pitchFamily="18" charset="2"/>
              <a:buChar char="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0746" indent="-205185" algn="l" defTabSz="914333" rtl="0" eaLnBrk="1" latinLnBrk="0" hangingPunct="1">
              <a:lnSpc>
                <a:spcPct val="102000"/>
              </a:lnSpc>
              <a:spcBef>
                <a:spcPts val="500"/>
              </a:spcBef>
              <a:buFont typeface="Bosch Office Sans" pitchFamily="2" charset="0"/>
              <a:buChar char="‒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fontAlgn="auto">
              <a:spcAft>
                <a:spcPts val="0"/>
              </a:spcAft>
            </a:pPr>
            <a:r>
              <a:rPr lang="de-DE" dirty="0"/>
              <a:t>Plastische </a:t>
            </a:r>
            <a:r>
              <a:rPr lang="de-DE" dirty="0" err="1"/>
              <a:t>Dehnrate</a:t>
            </a:r>
            <a:r>
              <a:rPr lang="de-DE" dirty="0"/>
              <a:t> wird ermittelt durch Überlagerung der Scherrate der verschiedenen Gleitsysteme</a:t>
            </a:r>
          </a:p>
          <a:p>
            <a:pPr lvl="1" fontAlgn="auto">
              <a:spcAft>
                <a:spcPts val="0"/>
              </a:spcAft>
            </a:pPr>
            <a:endParaRPr lang="de-DE" dirty="0"/>
          </a:p>
          <a:p>
            <a:pPr lvl="1" fontAlgn="auto">
              <a:spcAft>
                <a:spcPts val="0"/>
              </a:spcAft>
            </a:pPr>
            <a:endParaRPr lang="de-DE" dirty="0"/>
          </a:p>
          <a:p>
            <a:pPr lvl="2" fontAlgn="auto">
              <a:spcAft>
                <a:spcPts val="0"/>
              </a:spcAft>
            </a:pPr>
            <a:r>
              <a:rPr lang="de-DE" dirty="0"/>
              <a:t>Gleitsysteme werden durch den </a:t>
            </a:r>
            <a:r>
              <a:rPr lang="de-DE" b="1" dirty="0"/>
              <a:t>Schmid Tensor</a:t>
            </a:r>
            <a:r>
              <a:rPr lang="de-DE" dirty="0"/>
              <a:t> beschrieben</a:t>
            </a:r>
          </a:p>
          <a:p>
            <a:pPr lvl="2" fontAlgn="auto">
              <a:spcAft>
                <a:spcPts val="0"/>
              </a:spcAft>
            </a:pPr>
            <a:endParaRPr lang="de-DE" dirty="0"/>
          </a:p>
          <a:p>
            <a:pPr lvl="1" fontAlgn="auto">
              <a:spcAft>
                <a:spcPts val="0"/>
              </a:spcAft>
            </a:pPr>
            <a:r>
              <a:rPr lang="de-DE" dirty="0"/>
              <a:t>Schmidtensor wird verwendet um Schubspannung für Gleitebene zu bestimmen</a:t>
            </a:r>
          </a:p>
          <a:p>
            <a:pPr lvl="1" fontAlgn="auto">
              <a:spcAft>
                <a:spcPts val="0"/>
              </a:spcAft>
            </a:pPr>
            <a:endParaRPr lang="de-DE" dirty="0"/>
          </a:p>
          <a:p>
            <a:pPr lvl="1" fontAlgn="auto">
              <a:spcAft>
                <a:spcPts val="0"/>
              </a:spcAft>
            </a:pPr>
            <a:endParaRPr lang="de-DE" dirty="0"/>
          </a:p>
          <a:p>
            <a:pPr lvl="1" fontAlgn="auto">
              <a:spcAft>
                <a:spcPts val="0"/>
              </a:spcAft>
            </a:pPr>
            <a:r>
              <a:rPr lang="de-DE" dirty="0"/>
              <a:t>Plastische Deformation aufgrund Überschreitung kritischer Schubspannung (Fließregel nach </a:t>
            </a:r>
            <a:r>
              <a:rPr lang="de-DE" dirty="0" err="1"/>
              <a:t>Hutchingson</a:t>
            </a:r>
            <a:r>
              <a:rPr lang="de-DE" dirty="0"/>
              <a:t>)</a:t>
            </a:r>
          </a:p>
          <a:p>
            <a:pPr marL="525561" lvl="2" indent="0" fontAlgn="auto">
              <a:spcAft>
                <a:spcPts val="0"/>
              </a:spcAft>
              <a:buNone/>
            </a:pPr>
            <a:r>
              <a:rPr lang="de-DE" dirty="0"/>
              <a:t> </a:t>
            </a:r>
          </a:p>
          <a:p>
            <a:pPr lvl="2" fontAlgn="auto">
              <a:spcAft>
                <a:spcPts val="0"/>
              </a:spcAft>
            </a:pPr>
            <a:endParaRPr lang="de-DE" dirty="0"/>
          </a:p>
          <a:p>
            <a:pPr lvl="1" fontAlgn="auto">
              <a:spcAft>
                <a:spcPts val="0"/>
              </a:spcAft>
            </a:pPr>
            <a:endParaRPr lang="de-DE" dirty="0"/>
          </a:p>
          <a:p>
            <a:pPr lvl="1" fontAlgn="auto">
              <a:spcAft>
                <a:spcPts val="0"/>
              </a:spcAft>
            </a:pPr>
            <a:endParaRPr lang="de-DE" dirty="0"/>
          </a:p>
          <a:p>
            <a:pPr lvl="1" fontAlgn="auto">
              <a:spcAft>
                <a:spcPts val="0"/>
              </a:spcAft>
            </a:pPr>
            <a:endParaRPr lang="de-DE" dirty="0"/>
          </a:p>
          <a:p>
            <a:pPr lvl="1" fontAlgn="auto">
              <a:spcAft>
                <a:spcPts val="0"/>
              </a:spcAft>
            </a:pPr>
            <a:endParaRPr lang="de-DE" dirty="0"/>
          </a:p>
          <a:p>
            <a:pPr lvl="1" fontAlgn="auto">
              <a:spcAft>
                <a:spcPts val="0"/>
              </a:spcAft>
            </a:pPr>
            <a:endParaRPr lang="de-DE" dirty="0"/>
          </a:p>
        </p:txBody>
      </p:sp>
      <p:pic>
        <p:nvPicPr>
          <p:cNvPr id="24" name="Grafik 23" descr="\documentclass{article}&#10;\usepackage{amsmath}&#10;\pagestyle{empty}&#10;\begin{document}&#10;&#10;$\dot{\gamma}^{\alpha}= \dot{\gamma}_{0} sgn(\tau^{\alpha}- \chi^{\alpha}_{b})\Bigm\lvert\dfrac{\tau^{\alpha}- \chi^{\alpha}_{b}}{\tau^{\alpha}_{c}}\Bigm\rvert^{c}$&#10;&#10;&#10;\end{document}" title="IguanaTex Bitmap Display">
            <a:extLst>
              <a:ext uri="{FF2B5EF4-FFF2-40B4-BE49-F238E27FC236}">
                <a16:creationId xmlns:a16="http://schemas.microsoft.com/office/drawing/2014/main" id="{54A77148-4474-4E2E-94E8-40F39DEA6B17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7345" y="4957933"/>
            <a:ext cx="3786132" cy="590946"/>
          </a:xfrm>
          <a:prstGeom prst="rect">
            <a:avLst/>
          </a:prstGeom>
        </p:spPr>
      </p:pic>
      <p:pic>
        <p:nvPicPr>
          <p:cNvPr id="26" name="Grafik 25" descr="\documentclass{article}&#10;\usepackage{amsmath}&#10;\pagestyle{empty}&#10;\begin{document}&#10;&#10;$\dot{\varepsilon}_{p} = \sum_{\alpha = 1}^{N_{S}}\dot{\gamma}^{\alpha}M^{\alpha}&#10;  \label{SupperpositionFlowRule}$&#10;&#10;&#10;\end{document}" title="IguanaTex Bitmap Display">
            <a:extLst>
              <a:ext uri="{FF2B5EF4-FFF2-40B4-BE49-F238E27FC236}">
                <a16:creationId xmlns:a16="http://schemas.microsoft.com/office/drawing/2014/main" id="{BAE04FF0-571C-4580-B17B-C58423452BD3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4407" y="1671372"/>
            <a:ext cx="1958095" cy="327619"/>
          </a:xfrm>
          <a:prstGeom prst="rect">
            <a:avLst/>
          </a:prstGeom>
        </p:spPr>
      </p:pic>
      <p:pic>
        <p:nvPicPr>
          <p:cNvPr id="28" name="Grafik 27" descr="\documentclass{article}&#10;\usepackage{amsmath}&#10;\pagestyle{empty}&#10;\begin{document}&#10;&#10;&#10;$M^{\alpha} = n^{\alpha} \otimes m^{\alpha} $&#10;&#10;\end{document}" title="IguanaTex Bitmap Display">
            <a:extLst>
              <a:ext uri="{FF2B5EF4-FFF2-40B4-BE49-F238E27FC236}">
                <a16:creationId xmlns:a16="http://schemas.microsoft.com/office/drawing/2014/main" id="{1F4E5956-47C2-4A01-A1AE-284115953212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6978" y="2742118"/>
            <a:ext cx="1692952" cy="193524"/>
          </a:xfrm>
          <a:prstGeom prst="rect">
            <a:avLst/>
          </a:prstGeom>
        </p:spPr>
      </p:pic>
      <p:pic>
        <p:nvPicPr>
          <p:cNvPr id="30" name="Grafik 29" descr="\documentclass{article}&#10;\usepackage{amsmath}&#10;\pagestyle{empty}&#10;\begin{document}&#10;&#10;$\tau^{\alpha}=\sigma \cdot M^{\alpha}$&#10;&#10;&#10;\end{document}" title="IguanaTex Bitmap Display">
            <a:extLst>
              <a:ext uri="{FF2B5EF4-FFF2-40B4-BE49-F238E27FC236}">
                <a16:creationId xmlns:a16="http://schemas.microsoft.com/office/drawing/2014/main" id="{B650AFE6-5035-4D03-B0C0-50EF4D7952CB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1454" y="3818308"/>
            <a:ext cx="1344000" cy="17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6039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8DEA68-9EDD-48E0-A847-726DC047C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Fatigue </a:t>
            </a:r>
            <a:r>
              <a:rPr lang="de-DE" dirty="0" err="1"/>
              <a:t>Indicator</a:t>
            </a:r>
            <a:r>
              <a:rPr lang="de-DE" dirty="0"/>
              <a:t> Parameter (FIP)</a:t>
            </a:r>
            <a:br>
              <a:rPr lang="de-DE" dirty="0"/>
            </a:br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1E8D623-09FF-4AA5-9791-56D169F9F8C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Theorie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FB6A3C6-4916-409E-9767-733C29A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5</a:t>
            </a:fld>
            <a:endParaRPr lang="en-US" noProof="1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0952D9FE-3542-48F2-B346-8A5BF7077EA3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66700" y="1248320"/>
            <a:ext cx="4502810" cy="4168800"/>
          </a:xfrm>
        </p:spPr>
        <p:txBody>
          <a:bodyPr/>
          <a:lstStyle/>
          <a:p>
            <a:r>
              <a:rPr lang="de-DE" sz="1400" dirty="0" err="1"/>
              <a:t>Mesoskopische</a:t>
            </a:r>
            <a:r>
              <a:rPr lang="de-DE" sz="1400" dirty="0"/>
              <a:t> Größen zur Repräsentation von Rissinitiierung </a:t>
            </a:r>
          </a:p>
          <a:p>
            <a:r>
              <a:rPr lang="de-DE" sz="1400" dirty="0"/>
              <a:t>FIPs beruhen auf Annahme, dass Ermüdungsschädigung durch irreversible Gleitbewegungen in Gleitsystemen entsteht</a:t>
            </a:r>
          </a:p>
          <a:p>
            <a:r>
              <a:rPr lang="de-DE" sz="1400" dirty="0"/>
              <a:t>Ermittlung Lebensdauer über spezifischen kritischen Wert – </a:t>
            </a:r>
            <a:endParaRPr lang="de-DE" sz="1200" dirty="0"/>
          </a:p>
          <a:p>
            <a:pPr lvl="1"/>
            <a:r>
              <a:rPr lang="de-DE" sz="1200" dirty="0"/>
              <a:t>LCF-experiment unter definierter Dehnungsamplitude</a:t>
            </a:r>
          </a:p>
          <a:p>
            <a:pPr lvl="1"/>
            <a:r>
              <a:rPr lang="de-DE" sz="1200" dirty="0"/>
              <a:t>Simulation unter gleicher Belastung</a:t>
            </a:r>
          </a:p>
          <a:p>
            <a:pPr lvl="1"/>
            <a:endParaRPr lang="de-DE" sz="1200" dirty="0"/>
          </a:p>
          <a:p>
            <a:pPr lvl="1"/>
            <a:endParaRPr lang="de-DE" sz="1200" dirty="0"/>
          </a:p>
          <a:p>
            <a:r>
              <a:rPr lang="de-DE" sz="1400" dirty="0"/>
              <a:t>Kritische Lebensdauer ergibt sich:</a:t>
            </a:r>
          </a:p>
          <a:p>
            <a:pPr marL="0" indent="0">
              <a:buNone/>
            </a:pPr>
            <a:endParaRPr lang="de-DE" sz="1400" dirty="0"/>
          </a:p>
          <a:p>
            <a:endParaRPr lang="de-DE" sz="1400" dirty="0"/>
          </a:p>
          <a:p>
            <a:endParaRPr lang="de-DE" sz="1400" dirty="0"/>
          </a:p>
          <a:p>
            <a:endParaRPr lang="de-DE" sz="1400" dirty="0"/>
          </a:p>
          <a:p>
            <a:endParaRPr lang="de-DE" sz="1400" dirty="0"/>
          </a:p>
        </p:txBody>
      </p:sp>
      <p:sp>
        <p:nvSpPr>
          <p:cNvPr id="7" name="Inhaltsplatzhalter 4">
            <a:extLst>
              <a:ext uri="{FF2B5EF4-FFF2-40B4-BE49-F238E27FC236}">
                <a16:creationId xmlns:a16="http://schemas.microsoft.com/office/drawing/2014/main" id="{ECE3D972-E998-40B8-8D78-9B8CE5380F33}"/>
              </a:ext>
            </a:extLst>
          </p:cNvPr>
          <p:cNvSpPr txBox="1">
            <a:spLocks/>
          </p:cNvSpPr>
          <p:nvPr/>
        </p:nvSpPr>
        <p:spPr>
          <a:xfrm>
            <a:off x="5484600" y="1296000"/>
            <a:ext cx="3969424" cy="4168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51982" indent="-251982" algn="l" defTabSz="914333" rtl="0" eaLnBrk="1" latinLnBrk="0" hangingPunct="1">
              <a:lnSpc>
                <a:spcPct val="107000"/>
              </a:lnSpc>
              <a:spcBef>
                <a:spcPts val="500"/>
              </a:spcBef>
              <a:buFont typeface="Wingdings 3" panose="05040102010807070707" pitchFamily="18" charset="2"/>
              <a:buChar char="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7563" indent="-273580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Wingdings 3" panose="05040102010807070707" pitchFamily="18" charset="2"/>
              <a:buChar char="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0746" indent="-205185" algn="l" defTabSz="914333" rtl="0" eaLnBrk="1" latinLnBrk="0" hangingPunct="1">
              <a:lnSpc>
                <a:spcPct val="102000"/>
              </a:lnSpc>
              <a:spcBef>
                <a:spcPts val="500"/>
              </a:spcBef>
              <a:buFont typeface="Bosch Office Sans" pitchFamily="2" charset="0"/>
              <a:buChar char="‒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de-DE" sz="1400" dirty="0"/>
              <a:t>Akkumulierte Dehnung (Annahme Schaden nur durch plastische Dehnung verursacht)</a:t>
            </a:r>
          </a:p>
          <a:p>
            <a:pPr fontAlgn="auto">
              <a:spcAft>
                <a:spcPts val="0"/>
              </a:spcAft>
            </a:pPr>
            <a:endParaRPr lang="de-DE" sz="1400" dirty="0"/>
          </a:p>
          <a:p>
            <a:pPr marL="0" indent="0" fontAlgn="auto">
              <a:spcAft>
                <a:spcPts val="0"/>
              </a:spcAft>
              <a:buNone/>
            </a:pPr>
            <a:endParaRPr lang="de-DE" sz="1400" b="0" i="1" dirty="0">
              <a:latin typeface="Cambria Math" panose="02040503050406030204" pitchFamily="18" charset="0"/>
            </a:endParaRPr>
          </a:p>
          <a:p>
            <a:pPr fontAlgn="auto">
              <a:spcAft>
                <a:spcPts val="0"/>
              </a:spcAft>
            </a:pPr>
            <a:r>
              <a:rPr lang="de-DE" sz="1400" dirty="0"/>
              <a:t>Berücksichtigung von Scherung und Normalspannungen in einem Gleitsystem</a:t>
            </a:r>
          </a:p>
          <a:p>
            <a:pPr marL="0" indent="0" fontAlgn="auto">
              <a:spcAft>
                <a:spcPts val="0"/>
              </a:spcAft>
              <a:buNone/>
            </a:pPr>
            <a:endParaRPr lang="de-DE" sz="1400" dirty="0"/>
          </a:p>
          <a:p>
            <a:pPr fontAlgn="auto">
              <a:spcAft>
                <a:spcPts val="0"/>
              </a:spcAft>
            </a:pPr>
            <a:endParaRPr lang="de-DE" sz="1400" dirty="0"/>
          </a:p>
          <a:p>
            <a:pPr fontAlgn="auto">
              <a:spcAft>
                <a:spcPts val="0"/>
              </a:spcAft>
            </a:pPr>
            <a:r>
              <a:rPr lang="de-DE" sz="1400" dirty="0"/>
              <a:t>Dissipierte Energie von Gleitsystemen</a:t>
            </a:r>
          </a:p>
          <a:p>
            <a:pPr marL="0" indent="0" fontAlgn="auto">
              <a:spcAft>
                <a:spcPts val="0"/>
              </a:spcAft>
              <a:buNone/>
            </a:pPr>
            <a:endParaRPr lang="de-DE" sz="1400" dirty="0"/>
          </a:p>
        </p:txBody>
      </p:sp>
      <p:pic>
        <p:nvPicPr>
          <p:cNvPr id="9" name="Grafik 8" descr="\documentclass{article}&#10;\usepackage{amsmath}&#10;\pagestyle{empty}&#10;\begin{document}&#10;&#10;$N_{crit}= \dfrac{FIP_{crit}}{\Delta FIP^{*}_{cyc}}$&#10;&#10;&#10;\end{document}" title="IguanaTex Bitmap Display">
            <a:extLst>
              <a:ext uri="{FF2B5EF4-FFF2-40B4-BE49-F238E27FC236}">
                <a16:creationId xmlns:a16="http://schemas.microsoft.com/office/drawing/2014/main" id="{B276C8ED-9875-49D4-A296-A9D20B54D62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5601" y="4491360"/>
            <a:ext cx="1342933" cy="430933"/>
          </a:xfrm>
          <a:prstGeom prst="rect">
            <a:avLst/>
          </a:prstGeom>
        </p:spPr>
      </p:pic>
      <p:pic>
        <p:nvPicPr>
          <p:cNvPr id="11" name="Grafik 10" descr="\documentclass{article}&#10;\usepackage{amsmath}&#10;\pagestyle{empty}&#10;\begin{document}&#10;&#10;$FIP_{crit}$&#10;&#10;&#10;\end{document}" title="IguanaTex Bitmap Display">
            <a:extLst>
              <a:ext uri="{FF2B5EF4-FFF2-40B4-BE49-F238E27FC236}">
                <a16:creationId xmlns:a16="http://schemas.microsoft.com/office/drawing/2014/main" id="{58D00637-AFCC-4218-9DE1-490A0F539C43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634" y="2795652"/>
            <a:ext cx="568533" cy="148267"/>
          </a:xfrm>
          <a:prstGeom prst="rect">
            <a:avLst/>
          </a:prstGeom>
        </p:spPr>
      </p:pic>
      <p:pic>
        <p:nvPicPr>
          <p:cNvPr id="18" name="Grafik 17" descr="\documentclass{article}&#10;\usepackage{amsmath}&#10;\pagestyle{empty}&#10;\begin{document}&#10;&#10;$FIP_{crit} = N_{i}^{\dagger}\cdot \Delta FIP_{cyc}^{*}(\varepsilon_{a,t}^{\dagger})$&#10;&#10;&#10;\end{document}" title="IguanaTex Bitmap Display">
            <a:extLst>
              <a:ext uri="{FF2B5EF4-FFF2-40B4-BE49-F238E27FC236}">
                <a16:creationId xmlns:a16="http://schemas.microsoft.com/office/drawing/2014/main" id="{405C2F86-685A-49F2-A170-27B25AF2E051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0444" y="3606072"/>
            <a:ext cx="2443867" cy="261418"/>
          </a:xfrm>
          <a:prstGeom prst="rect">
            <a:avLst/>
          </a:prstGeom>
        </p:spPr>
      </p:pic>
      <p:pic>
        <p:nvPicPr>
          <p:cNvPr id="30" name="Grafik 29" descr="\documentclass{article}&#10;\usepackage{amsmath}&#10;\pagestyle{empty}&#10;\begin{document}&#10;&#10;$FIP_{cyc,p}(\underline{x})=\int\limits_{Anfang Zyklus}^{Ende Zyklus}|\dot{\varepsilon}_{p}(\underline{x})|d t$&#10;&#10;&#10;\end{document}" title="IguanaTex Bitmap Display">
            <a:extLst>
              <a:ext uri="{FF2B5EF4-FFF2-40B4-BE49-F238E27FC236}">
                <a16:creationId xmlns:a16="http://schemas.microsoft.com/office/drawing/2014/main" id="{75AB5E45-BEF0-425F-9ED8-00C94D91B67F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1237" y="1874300"/>
            <a:ext cx="2792836" cy="471987"/>
          </a:xfrm>
          <a:prstGeom prst="rect">
            <a:avLst/>
          </a:prstGeom>
        </p:spPr>
      </p:pic>
      <p:pic>
        <p:nvPicPr>
          <p:cNvPr id="28" name="Grafik 27" descr="\documentclass{article}&#10;\usepackage{amsmath}&#10;\pagestyle{empty}&#10;\begin{document}&#10;&#10;$FIP_{cyc,W}(\underline{x})=\sum\limits_{\alpha = 1}^{12}\int\limits_{Anfang Zyklus}^{Ende Zyklus}\tau^{\alpha}(\underline{x})\dot{\gamma}{^\alpha}(\underline{x})dt$&#10;&#10;&#10;\end{document}" title="IguanaTex Bitmap Display">
            <a:extLst>
              <a:ext uri="{FF2B5EF4-FFF2-40B4-BE49-F238E27FC236}">
                <a16:creationId xmlns:a16="http://schemas.microsoft.com/office/drawing/2014/main" id="{4F8C95D4-7A20-47A4-B274-D6CE3A703776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7666" y="4212824"/>
            <a:ext cx="4199978" cy="557071"/>
          </a:xfrm>
          <a:prstGeom prst="rect">
            <a:avLst/>
          </a:prstGeom>
        </p:spPr>
      </p:pic>
      <p:pic>
        <p:nvPicPr>
          <p:cNvPr id="40" name="Grafik 39" descr="\documentclass{article}&#10;\usepackage{amsmath}&#10;\pagestyle{empty}&#10;\begin{document}&#10;&#10;&#10;$FIP_{cyc,FS}(\underline{x})=\max\limits_{\alpha = 1 ... 12}\left[\dfrac{\Delta\gamma_{p}^{\alpha}(\underline{x})}{2}\left(1+k\dfrac{\sigma_{n}^{\alpha}(\underline{x})}{\tau_{c,0}}\right)\right]$&#10;&#10;&#10;&#10;\end{document}" title="IguanaTex Bitmap Display">
            <a:extLst>
              <a:ext uri="{FF2B5EF4-FFF2-40B4-BE49-F238E27FC236}">
                <a16:creationId xmlns:a16="http://schemas.microsoft.com/office/drawing/2014/main" id="{4A9FD7C3-A884-4EDC-A969-C7472C4E0FF8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7666" y="2903337"/>
            <a:ext cx="4199978" cy="491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735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Geometric representations of polycrystalline materials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 err="1"/>
              <a:t>Theorie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de-DE" smtClean="0"/>
              <a:pPr/>
              <a:t>6</a:t>
            </a:fld>
            <a:endParaRPr lang="de-DE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>
          <a:xfrm>
            <a:off x="258762" y="1296000"/>
            <a:ext cx="7525848" cy="3943840"/>
          </a:xfrm>
        </p:spPr>
        <p:txBody>
          <a:bodyPr/>
          <a:lstStyle/>
          <a:p>
            <a:r>
              <a:rPr lang="en-US" dirty="0"/>
              <a:t>Tessellations: </a:t>
            </a:r>
          </a:p>
          <a:p>
            <a:pPr lvl="1"/>
            <a:r>
              <a:rPr lang="en-US" dirty="0"/>
              <a:t>Domain</a:t>
            </a:r>
          </a:p>
          <a:p>
            <a:pPr lvl="1"/>
            <a:r>
              <a:rPr lang="en-US" dirty="0"/>
              <a:t>Fixed set of nuclei</a:t>
            </a:r>
          </a:p>
          <a:p>
            <a:pPr lvl="1"/>
            <a:r>
              <a:rPr lang="en-US" dirty="0"/>
              <a:t>Cell definition</a:t>
            </a:r>
          </a:p>
          <a:p>
            <a:pPr lvl="1"/>
            <a:r>
              <a:rPr lang="en-US" dirty="0"/>
              <a:t>No voids</a:t>
            </a:r>
          </a:p>
          <a:p>
            <a:pPr marL="233983" lvl="1" indent="0">
              <a:buNone/>
            </a:pPr>
            <a:endParaRPr lang="en-US" dirty="0"/>
          </a:p>
          <a:p>
            <a:r>
              <a:rPr lang="en-US" b="1" dirty="0" err="1"/>
              <a:t>Voronoi</a:t>
            </a:r>
            <a:r>
              <a:rPr lang="en-US" dirty="0"/>
              <a:t> tessellations [1]:</a:t>
            </a:r>
          </a:p>
          <a:p>
            <a:pPr lvl="1"/>
            <a:r>
              <a:rPr lang="en-US" dirty="0"/>
              <a:t>Isotropic and uniform grain growth</a:t>
            </a:r>
          </a:p>
          <a:p>
            <a:endParaRPr lang="en-US" dirty="0"/>
          </a:p>
          <a:p>
            <a:r>
              <a:rPr lang="en-US" b="1" dirty="0"/>
              <a:t>Laguerre</a:t>
            </a:r>
            <a:r>
              <a:rPr lang="en-US" dirty="0"/>
              <a:t> tessellations [2] :</a:t>
            </a:r>
          </a:p>
          <a:p>
            <a:pPr lvl="1"/>
            <a:r>
              <a:rPr lang="en-US" dirty="0"/>
              <a:t>Additional degree of freedom</a:t>
            </a:r>
          </a:p>
          <a:p>
            <a:pPr lvl="1"/>
            <a:r>
              <a:rPr lang="en-US" dirty="0"/>
              <a:t>Weight controls cell size</a:t>
            </a:r>
          </a:p>
        </p:txBody>
      </p:sp>
      <p:pic>
        <p:nvPicPr>
          <p:cNvPr id="27" name="Grafik 2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9170" y="1967901"/>
            <a:ext cx="1910857" cy="220952"/>
          </a:xfrm>
          <a:prstGeom prst="rect">
            <a:avLst/>
          </a:prstGeom>
        </p:spPr>
      </p:pic>
      <p:pic>
        <p:nvPicPr>
          <p:cNvPr id="29" name="Grafik 2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4717" y="2308821"/>
            <a:ext cx="5420190" cy="213333"/>
          </a:xfrm>
          <a:prstGeom prst="rect">
            <a:avLst/>
          </a:prstGeom>
        </p:spPr>
      </p:pic>
      <p:pic>
        <p:nvPicPr>
          <p:cNvPr id="43" name="Grafik 42"/>
          <p:cNvPicPr>
            <a:picLocks noChangeAspect="1"/>
          </p:cNvPicPr>
          <p:nvPr/>
        </p:nvPicPr>
        <p:blipFill>
          <a:blip r:embed="rId1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3951" y="5643156"/>
            <a:ext cx="540000" cy="246153"/>
          </a:xfrm>
          <a:prstGeom prst="rect">
            <a:avLst/>
          </a:prstGeom>
        </p:spPr>
      </p:pic>
      <p:pic>
        <p:nvPicPr>
          <p:cNvPr id="45" name="try_Voro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8593199" y="1071422"/>
            <a:ext cx="2012337" cy="2160000"/>
          </a:xfrm>
          <a:prstGeom prst="rect">
            <a:avLst/>
          </a:prstGeom>
        </p:spPr>
      </p:pic>
      <p:pic>
        <p:nvPicPr>
          <p:cNvPr id="47" name="Laguerre_Animation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7"/>
          <a:stretch>
            <a:fillRect/>
          </a:stretch>
        </p:blipFill>
        <p:spPr>
          <a:xfrm>
            <a:off x="8574913" y="3456000"/>
            <a:ext cx="2012337" cy="2160000"/>
          </a:xfrm>
          <a:prstGeom prst="rect">
            <a:avLst/>
          </a:prstGeom>
        </p:spPr>
      </p:pic>
      <p:pic>
        <p:nvPicPr>
          <p:cNvPr id="8" name="Grafik 7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3574" y="3610377"/>
            <a:ext cx="1662476" cy="204190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5479" y="4628399"/>
            <a:ext cx="2218667" cy="219429"/>
          </a:xfrm>
          <a:prstGeom prst="rect">
            <a:avLst/>
          </a:prstGeom>
        </p:spPr>
      </p:pic>
      <p:pic>
        <p:nvPicPr>
          <p:cNvPr id="11" name="Grafik 10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2312" y="2639102"/>
            <a:ext cx="1124571" cy="262095"/>
          </a:xfrm>
          <a:prstGeom prst="rect">
            <a:avLst/>
          </a:prstGeom>
        </p:spPr>
      </p:pic>
      <p:sp>
        <p:nvSpPr>
          <p:cNvPr id="23" name="Rechteck 22"/>
          <p:cNvSpPr/>
          <p:nvPr/>
        </p:nvSpPr>
        <p:spPr>
          <a:xfrm>
            <a:off x="2129675" y="5228771"/>
            <a:ext cx="627614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[1] </a:t>
            </a:r>
            <a:r>
              <a:rPr lang="en-US" sz="800" dirty="0" err="1"/>
              <a:t>Fritzen</a:t>
            </a:r>
            <a:r>
              <a:rPr lang="en-US" sz="800" dirty="0"/>
              <a:t>, F., Böhlke, T., &amp; </a:t>
            </a:r>
            <a:r>
              <a:rPr lang="en-US" sz="800" dirty="0" err="1"/>
              <a:t>Schnack</a:t>
            </a:r>
            <a:r>
              <a:rPr lang="en-US" sz="800" dirty="0"/>
              <a:t>, E. (2009). Periodic three-dimensional mesh generation for crystalline aggregates based on </a:t>
            </a:r>
            <a:r>
              <a:rPr lang="en-US" sz="800" dirty="0" err="1"/>
              <a:t>Voronoi</a:t>
            </a:r>
            <a:r>
              <a:rPr lang="en-US" sz="800" dirty="0"/>
              <a:t> tessellations. </a:t>
            </a:r>
            <a:r>
              <a:rPr lang="en-US" sz="800" i="1" dirty="0"/>
              <a:t>Computational Mechanics</a:t>
            </a:r>
            <a:r>
              <a:rPr lang="en-US" sz="800" dirty="0"/>
              <a:t>, </a:t>
            </a:r>
            <a:r>
              <a:rPr lang="en-US" sz="800" i="1" dirty="0"/>
              <a:t>43</a:t>
            </a:r>
            <a:r>
              <a:rPr lang="en-US" sz="800" dirty="0"/>
              <a:t>(5), 701-713.</a:t>
            </a:r>
          </a:p>
          <a:p>
            <a:r>
              <a:rPr lang="en-US" sz="800" dirty="0"/>
              <a:t>[2] Quey, R., &amp; </a:t>
            </a:r>
            <a:r>
              <a:rPr lang="en-US" sz="800" dirty="0" err="1"/>
              <a:t>Renversade</a:t>
            </a:r>
            <a:r>
              <a:rPr lang="en-US" sz="800" dirty="0"/>
              <a:t>, L. (2018). Optimal polyhedral description of 3D </a:t>
            </a:r>
            <a:r>
              <a:rPr lang="en-US" sz="800" dirty="0" err="1"/>
              <a:t>polycrystals</a:t>
            </a:r>
            <a:r>
              <a:rPr lang="en-US" sz="800" dirty="0"/>
              <a:t>: method and application to statistical and synchrotron X-ray diffraction data. </a:t>
            </a:r>
            <a:r>
              <a:rPr lang="en-US" sz="800" i="1" dirty="0"/>
              <a:t>Computer Methods in Applied Mechanics and Engineering</a:t>
            </a:r>
            <a:r>
              <a:rPr lang="en-US" sz="800" dirty="0"/>
              <a:t>, </a:t>
            </a:r>
            <a:r>
              <a:rPr lang="en-US" sz="800" i="1" dirty="0"/>
              <a:t>330</a:t>
            </a:r>
            <a:r>
              <a:rPr lang="en-US" sz="800" dirty="0"/>
              <a:t>, 308-333.</a:t>
            </a:r>
          </a:p>
        </p:txBody>
      </p:sp>
      <p:pic>
        <p:nvPicPr>
          <p:cNvPr id="16" name="Grafik 15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3936" y="1643885"/>
            <a:ext cx="2567619" cy="204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566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29" fill="hold" display="0">
                  <p:stCondLst>
                    <p:cond delay="indefinite"/>
                  </p:stCondLst>
                </p:cTn>
                <p:tgtEl>
                  <p:spTgt spid="45"/>
                </p:tgtEl>
              </p:cMediaNode>
            </p:video>
            <p:video>
              <p:cMediaNode vol="80000">
                <p:cTn id="30" fill="hold" display="0">
                  <p:stCondLst>
                    <p:cond delay="indefinite"/>
                  </p:stCondLst>
                </p:cTn>
                <p:tgtEl>
                  <p:spTgt spid="47"/>
                </p:tgtEl>
              </p:cMediaNode>
            </p:video>
          </p:childTnLst>
        </p:cTn>
      </p:par>
    </p:tnLst>
    <p:bldLst>
      <p:bldP spid="5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rafik 78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9823" y="2977602"/>
            <a:ext cx="4743244" cy="2700000"/>
          </a:xfrm>
          <a:prstGeom prst="rect">
            <a:avLst/>
          </a:prstGeom>
        </p:spPr>
      </p:pic>
      <p:pic>
        <p:nvPicPr>
          <p:cNvPr id="81" name="Grafik 80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9725" y="479503"/>
            <a:ext cx="4743244" cy="2700000"/>
          </a:xfrm>
          <a:prstGeom prst="rect">
            <a:avLst/>
          </a:prstGeom>
        </p:spPr>
      </p:pic>
      <p:pic>
        <p:nvPicPr>
          <p:cNvPr id="80" name="Grafik 79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4774" y="481792"/>
            <a:ext cx="4743244" cy="2700000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Laguerre tessellations (</a:t>
            </a:r>
            <a:r>
              <a:rPr lang="en-US" sz="2400" dirty="0" err="1"/>
              <a:t>Mikrostrukturgenerierung</a:t>
            </a:r>
            <a:r>
              <a:rPr lang="en-US" sz="2400" dirty="0"/>
              <a:t>)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 err="1"/>
              <a:t>Theorie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de-DE" smtClean="0"/>
              <a:pPr/>
              <a:t>7</a:t>
            </a:fld>
            <a:endParaRPr lang="de-DE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>
          <a:xfrm>
            <a:off x="258762" y="1295999"/>
            <a:ext cx="6040841" cy="4489503"/>
          </a:xfrm>
        </p:spPr>
        <p:txBody>
          <a:bodyPr/>
          <a:lstStyle/>
          <a:p>
            <a:r>
              <a:rPr lang="en-US" dirty="0"/>
              <a:t>Input: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dirty="0"/>
              <a:t>Demand: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Formulation as convex optimization problem [1]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Efficient generation of Laguerre tessellations for </a:t>
            </a:r>
            <a:r>
              <a:rPr lang="en-US" b="1" dirty="0"/>
              <a:t>prescribed volume fractions </a:t>
            </a:r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grpSp>
        <p:nvGrpSpPr>
          <p:cNvPr id="14" name="Gruppieren 13"/>
          <p:cNvGrpSpPr/>
          <p:nvPr/>
        </p:nvGrpSpPr>
        <p:grpSpPr>
          <a:xfrm>
            <a:off x="2523682" y="2810395"/>
            <a:ext cx="1449322" cy="538604"/>
            <a:chOff x="2523682" y="2810395"/>
            <a:chExt cx="1449322" cy="538604"/>
          </a:xfrm>
        </p:grpSpPr>
        <p:pic>
          <p:nvPicPr>
            <p:cNvPr id="7" name="Grafik 6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14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77677" y="2977602"/>
              <a:ext cx="1141333" cy="204190"/>
            </a:xfrm>
            <a:prstGeom prst="rect">
              <a:avLst/>
            </a:prstGeom>
          </p:spPr>
        </p:pic>
        <p:sp>
          <p:nvSpPr>
            <p:cNvPr id="26" name="Abgerundetes Rechteck 25"/>
            <p:cNvSpPr/>
            <p:nvPr/>
          </p:nvSpPr>
          <p:spPr>
            <a:xfrm>
              <a:off x="2523682" y="2810395"/>
              <a:ext cx="1449322" cy="538604"/>
            </a:xfrm>
            <a:prstGeom prst="roundRect">
              <a:avLst/>
            </a:prstGeom>
            <a:noFill/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</p:grpSp>
      <p:sp>
        <p:nvSpPr>
          <p:cNvPr id="31" name="Rechteck 30"/>
          <p:cNvSpPr/>
          <p:nvPr/>
        </p:nvSpPr>
        <p:spPr>
          <a:xfrm>
            <a:off x="1711399" y="5404310"/>
            <a:ext cx="627614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[1] Bourne, D. P., </a:t>
            </a:r>
            <a:r>
              <a:rPr lang="en-US" sz="800" dirty="0" err="1"/>
              <a:t>Kok</a:t>
            </a:r>
            <a:r>
              <a:rPr lang="en-US" sz="800" dirty="0"/>
              <a:t>, P. J., Roper, S. M., &amp; </a:t>
            </a:r>
            <a:r>
              <a:rPr lang="en-US" sz="800" dirty="0" err="1"/>
              <a:t>Spanjer</a:t>
            </a:r>
            <a:r>
              <a:rPr lang="en-US" sz="800" dirty="0"/>
              <a:t>, W. D. (2020). Laguerre tessellations and polycrystalline microstructures: a fast algorithm for generating grains of given volumes. </a:t>
            </a:r>
            <a:r>
              <a:rPr lang="en-US" sz="800" i="1" dirty="0"/>
              <a:t>Philosophical Magazine</a:t>
            </a:r>
            <a:r>
              <a:rPr lang="en-US" sz="800" dirty="0"/>
              <a:t>, 1-31</a:t>
            </a:r>
          </a:p>
        </p:txBody>
      </p:sp>
      <p:grpSp>
        <p:nvGrpSpPr>
          <p:cNvPr id="10" name="Gruppieren 9"/>
          <p:cNvGrpSpPr/>
          <p:nvPr/>
        </p:nvGrpSpPr>
        <p:grpSpPr>
          <a:xfrm>
            <a:off x="805494" y="3764429"/>
            <a:ext cx="5622217" cy="1080000"/>
            <a:chOff x="437235" y="4154899"/>
            <a:chExt cx="5622217" cy="1080000"/>
          </a:xfrm>
        </p:grpSpPr>
        <p:pic>
          <p:nvPicPr>
            <p:cNvPr id="59" name="Grafik 58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5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3963" y="4513993"/>
              <a:ext cx="5589333" cy="294095"/>
            </a:xfrm>
            <a:prstGeom prst="rect">
              <a:avLst/>
            </a:prstGeom>
          </p:spPr>
        </p:pic>
        <p:sp>
          <p:nvSpPr>
            <p:cNvPr id="34" name="Abgerundetes Rechteck 33"/>
            <p:cNvSpPr/>
            <p:nvPr/>
          </p:nvSpPr>
          <p:spPr>
            <a:xfrm>
              <a:off x="437235" y="4154899"/>
              <a:ext cx="5622217" cy="1080000"/>
            </a:xfrm>
            <a:prstGeom prst="roundRect">
              <a:avLst/>
            </a:prstGeom>
            <a:noFill/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pic>
          <p:nvPicPr>
            <p:cNvPr id="57" name="Grafik 56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97772" y="4264350"/>
              <a:ext cx="1101714" cy="184381"/>
            </a:xfrm>
            <a:prstGeom prst="rect">
              <a:avLst/>
            </a:prstGeom>
          </p:spPr>
        </p:pic>
        <p:pic>
          <p:nvPicPr>
            <p:cNvPr id="9" name="Grafik 8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64153" y="4873350"/>
              <a:ext cx="2968381" cy="204190"/>
            </a:xfrm>
            <a:prstGeom prst="rect">
              <a:avLst/>
            </a:prstGeom>
          </p:spPr>
        </p:pic>
      </p:grpSp>
      <p:pic>
        <p:nvPicPr>
          <p:cNvPr id="63" name="Grafik 6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4534" y="1368247"/>
            <a:ext cx="2567619" cy="204190"/>
          </a:xfrm>
          <a:prstGeom prst="rect">
            <a:avLst/>
          </a:prstGeom>
        </p:spPr>
      </p:pic>
      <p:pic>
        <p:nvPicPr>
          <p:cNvPr id="65" name="Grafik 6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2915" y="1608551"/>
            <a:ext cx="1910857" cy="220952"/>
          </a:xfrm>
          <a:prstGeom prst="rect">
            <a:avLst/>
          </a:prstGeom>
        </p:spPr>
      </p:pic>
      <p:pic>
        <p:nvPicPr>
          <p:cNvPr id="11" name="Grafik 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6343" y="1913809"/>
            <a:ext cx="1984000" cy="231619"/>
          </a:xfrm>
          <a:prstGeom prst="rect">
            <a:avLst/>
          </a:prstGeom>
        </p:spPr>
      </p:pic>
      <p:sp>
        <p:nvSpPr>
          <p:cNvPr id="69" name="Abgerundetes Rechteck 68"/>
          <p:cNvSpPr/>
          <p:nvPr/>
        </p:nvSpPr>
        <p:spPr>
          <a:xfrm>
            <a:off x="1816409" y="1255107"/>
            <a:ext cx="2863868" cy="1296089"/>
          </a:xfrm>
          <a:prstGeom prst="round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pic>
        <p:nvPicPr>
          <p:cNvPr id="12" name="Grafik 1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9867" y="2210690"/>
            <a:ext cx="1116952" cy="262095"/>
          </a:xfrm>
          <a:prstGeom prst="rect">
            <a:avLst/>
          </a:prstGeom>
        </p:spPr>
      </p:pic>
      <p:grpSp>
        <p:nvGrpSpPr>
          <p:cNvPr id="6" name="Gruppieren 5"/>
          <p:cNvGrpSpPr/>
          <p:nvPr/>
        </p:nvGrpSpPr>
        <p:grpSpPr>
          <a:xfrm>
            <a:off x="6542964" y="1614788"/>
            <a:ext cx="1012726" cy="434008"/>
            <a:chOff x="10118963" y="2590685"/>
            <a:chExt cx="1012726" cy="434008"/>
          </a:xfrm>
        </p:grpSpPr>
        <p:sp>
          <p:nvSpPr>
            <p:cNvPr id="32" name="Textfeld 31"/>
            <p:cNvSpPr txBox="1"/>
            <p:nvPr/>
          </p:nvSpPr>
          <p:spPr>
            <a:xfrm>
              <a:off x="10288311" y="2590685"/>
              <a:ext cx="843378" cy="43400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R="0" defTabSz="914400" eaLnBrk="1" fontAlgn="auto" latinLnBrk="0" hangingPunct="1">
                <a:spcBef>
                  <a:spcPts val="5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Seeds</a:t>
              </a:r>
            </a:p>
          </p:txBody>
        </p:sp>
        <p:sp>
          <p:nvSpPr>
            <p:cNvPr id="33" name="Rechteck 32"/>
            <p:cNvSpPr/>
            <p:nvPr/>
          </p:nvSpPr>
          <p:spPr>
            <a:xfrm>
              <a:off x="10118963" y="2627315"/>
              <a:ext cx="118800" cy="117004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</p:grpSp>
      <p:sp>
        <p:nvSpPr>
          <p:cNvPr id="8" name="Textfeld 7"/>
          <p:cNvSpPr txBox="1"/>
          <p:nvPr/>
        </p:nvSpPr>
        <p:spPr>
          <a:xfrm>
            <a:off x="7728051" y="2862543"/>
            <a:ext cx="1656691" cy="43923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ctr" defTabSz="91440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Domain </a:t>
            </a:r>
            <a:r>
              <a: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with</a:t>
            </a:r>
            <a:r>
              <a:rPr kumimoji="0" lang="de-DE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seed</a:t>
            </a:r>
            <a:r>
              <a:rPr kumimoji="0" lang="de-DE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points</a:t>
            </a:r>
            <a:endParaRPr kumimoji="0" lang="de-DE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7" name="Textfeld 26"/>
          <p:cNvSpPr txBox="1"/>
          <p:nvPr/>
        </p:nvSpPr>
        <p:spPr>
          <a:xfrm>
            <a:off x="7733100" y="5379569"/>
            <a:ext cx="1656691" cy="43923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ctr" defTabSz="91440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Resulting</a:t>
            </a:r>
            <a:r>
              <a:rPr kumimoji="0" lang="de-DE" sz="1200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de-DE" sz="1200" b="0" i="0" u="none" strike="noStrike" kern="0" cap="none" spc="0" normalizeH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tessellation</a:t>
            </a:r>
            <a:endParaRPr kumimoji="0" lang="de-DE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219752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2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5444CC-AD5F-4F05-9522-15BFCD949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Aufbau Grundlagenteil 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D6FFB54-4D9A-4100-8CA8-147BA067102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Ausarbeitung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A43C20E-C5C8-409C-809E-F79CDF0B3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8</a:t>
            </a:fld>
            <a:endParaRPr lang="en-US" noProof="1"/>
          </a:p>
        </p:txBody>
      </p:sp>
      <p:pic>
        <p:nvPicPr>
          <p:cNvPr id="15" name="Inhaltsplatzhalter 14">
            <a:hlinkClick r:id="rId2" action="ppaction://hlinkfile"/>
            <a:extLst>
              <a:ext uri="{FF2B5EF4-FFF2-40B4-BE49-F238E27FC236}">
                <a16:creationId xmlns:a16="http://schemas.microsoft.com/office/drawing/2014/main" id="{723E0FBC-A7B1-48B5-8200-93D6DB98722B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44685" y="1425600"/>
            <a:ext cx="7198879" cy="3454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9186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1E7A4FA-20B0-4720-9932-5E22DF134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September 2021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DA36BD1-FB28-4A63-B31F-02C71DFC844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Nächste Schritte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CDE9CF3-2CA6-4CA6-9DE2-0C7A79C6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9</a:t>
            </a:fld>
            <a:endParaRPr lang="en-US" noProof="1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686B1BD4-1AB4-4469-BB13-BD525B477D2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de-DE" dirty="0"/>
              <a:t>Vorbereitung für Auswertung: </a:t>
            </a:r>
          </a:p>
          <a:p>
            <a:pPr lvl="1"/>
            <a:r>
              <a:rPr lang="de-DE" dirty="0"/>
              <a:t>Programmieren Schnittstelle für automatisiertes starten der FFT-Analyse auf HPC für mehrere Mikrostrukturen, sodass Abhängigkeit des Volumenanteils der Phasen analysiert werden kann</a:t>
            </a:r>
          </a:p>
          <a:p>
            <a:pPr lvl="1"/>
            <a:r>
              <a:rPr lang="de-DE" dirty="0"/>
              <a:t>Simulation erster Mikrostrukturen mit unterschiedlichen Volumenanteil</a:t>
            </a:r>
          </a:p>
          <a:p>
            <a:pPr lvl="1"/>
            <a:r>
              <a:rPr lang="de-DE" dirty="0"/>
              <a:t>Programmieren Schnittstelle für Evaluierung der Daten</a:t>
            </a:r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Weiteres einarbeiten in Theorie</a:t>
            </a:r>
          </a:p>
        </p:txBody>
      </p:sp>
    </p:spTree>
    <p:extLst>
      <p:ext uri="{BB962C8B-B14F-4D97-AF65-F5344CB8AC3E}">
        <p14:creationId xmlns:p14="http://schemas.microsoft.com/office/powerpoint/2010/main" val="33455047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7A77B4-248D-4487-BBF1-0C61889D8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Roadmap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26E7C7D-2AAD-46D9-A629-F9C2B0EB460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/>
              <a:t>Nächste Schritte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90D4647-A7B2-4386-8174-E8610E723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10</a:t>
            </a:fld>
            <a:endParaRPr lang="en-US" noProof="1"/>
          </a:p>
        </p:txBody>
      </p:sp>
      <p:graphicFrame>
        <p:nvGraphicFramePr>
          <p:cNvPr id="9" name="Inhaltsplatzhalter 8">
            <a:extLst>
              <a:ext uri="{FF2B5EF4-FFF2-40B4-BE49-F238E27FC236}">
                <a16:creationId xmlns:a16="http://schemas.microsoft.com/office/drawing/2014/main" id="{F950C91B-B4E7-4F16-86DA-181E83AF756D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134941374"/>
              </p:ext>
            </p:extLst>
          </p:nvPr>
        </p:nvGraphicFramePr>
        <p:xfrm>
          <a:off x="258763" y="1036800"/>
          <a:ext cx="10450512" cy="4427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3335018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G1_D2_169.PNG" val="image1.png"/>
  <p:tag name="RIGHT_D2.PNG" val="image3.png"/>
  <p:tag name="BG2_D2_169.PNG" val="image4.png"/>
  <p:tag name="SWITCH_BG1_D2_169.JPG" val="image5.png"/>
  <p:tag name="BOTTOM_D2_169.PNG" val="image6.png"/>
  <p:tag name="LOGO2_D2.PNG" val="image7.png"/>
  <p:tag name="BG3_D2_169.PNG" val="image9.png"/>
  <p:tag name="SWITCH_BG2_D2_169.JPG" val="image8.png"/>
  <p:tag name="LOGO1_D2.PNG" val="image2.png"/>
  <p:tag name="MLTEMPLATEVERSION" val="1.0"/>
  <p:tag name="SAXMLTEMPLATE" val="presentation_169"/>
  <p:tag name="SAXMLCOMPANYNAME" val="bosch"/>
  <p:tag name="SAXCONVERS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84,9644"/>
  <p:tag name="ORIGINALWIDTH" val="1862,017"/>
  <p:tag name="LATEXADDIN" val="\documentclass{article}&#10;\usepackage{amsmath}&#10;\pagestyle{empty}&#10;\begin{document}&#10;&#10;$\dot{\gamma}^{\alpha}= \dot{\gamma}_{0} sgn(\tau^{\alpha}- \chi^{\alpha}_{b})\Bigm\lvert\dfrac{\tau^{\alpha}- \chi^{\alpha}_{b}}{\tau^{\alpha}_{c}}\Bigm\rvert^{c}$&#10;&#10;&#10;\end{document}"/>
  <p:tag name="IGUANATEXSIZE" val="20"/>
  <p:tag name="IGUANATEXCURSOR" val="122"/>
  <p:tag name="TRANSPARENCY" val="Wahr"/>
  <p:tag name="FILENAME" val=""/>
  <p:tag name="LATEXENGINEID" val="0"/>
  <p:tag name="TEMPFOLDER" val="U:\BesprechungUni\09_21 Besprechung\"/>
  <p:tag name="LATEXFORMHEIGHT" val="312"/>
  <p:tag name="LATEXFORMWIDTH" val="384"/>
  <p:tag name="LATEXFORMWRAP" val="Wahr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1,2298"/>
  <p:tag name="ORIGINALWIDTH" val="963,6295"/>
  <p:tag name="LATEXADDIN" val="\documentclass{article}&#10;\usepackage{amsmath}&#10;\pagestyle{empty}&#10;\begin{document}&#10;&#10;$\dot{\varepsilon}_{p} = \sum_{\alpha = 1}^{N_{S}}\dot{\gamma}^{\alpha}M^{\alpha}&#10;  \label{SupperpositionFlowRule}$&#10;&#10;&#10;\end{document}"/>
  <p:tag name="IGUANATEXSIZE" val="20"/>
  <p:tag name="IGUANATEXCURSOR" val="195"/>
  <p:tag name="TRANSPARENCY" val="Wahr"/>
  <p:tag name="FILENAME" val=""/>
  <p:tag name="LATEXENGINEID" val="0"/>
  <p:tag name="TEMPFOLDER" val="U:\BesprechungUni\09_21 Besprechung\"/>
  <p:tag name="LATEXFORMHEIGHT" val="312"/>
  <p:tag name="LATEXFORMWIDTH" val="384"/>
  <p:tag name="LATEXFORMWRAP" val="Wahr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5,23811"/>
  <p:tag name="ORIGINALWIDTH" val="833,1458"/>
  <p:tag name="LATEXADDIN" val="\documentclass{article}&#10;\usepackage{amsmath}&#10;\pagestyle{empty}&#10;\begin{document}&#10;&#10;&#10;$M^{\alpha} = n^{\alpha} \otimes m^{\alpha} $&#10;&#10;\end{document}"/>
  <p:tag name="IGUANATEXSIZE" val="20"/>
  <p:tag name="IGUANATEXCURSOR" val="126"/>
  <p:tag name="TRANSPARENCY" val="Wahr"/>
  <p:tag name="FILENAME" val=""/>
  <p:tag name="LATEXENGINEID" val="0"/>
  <p:tag name="TEMPFOLDER" val="U:\BesprechungUni\09_21 Besprechung\"/>
  <p:tag name="LATEXFORMHEIGHT" val="312"/>
  <p:tag name="LATEXFORMWIDTH" val="384"/>
  <p:tag name="LATEXFORMWRAP" val="Wahr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6,23921"/>
  <p:tag name="ORIGINALWIDTH" val="661,4173"/>
  <p:tag name="LATEXADDIN" val="\documentclass{article}&#10;\usepackage{amsmath}&#10;\pagestyle{empty}&#10;\begin{document}&#10;&#10;$\tau^{\alpha}=\sigma \cdot M^{\alpha}$&#10;&#10;&#10;\end{document}"/>
  <p:tag name="IGUANATEXSIZE" val="20"/>
  <p:tag name="IGUANATEXCURSOR" val="119"/>
  <p:tag name="TRANSPARENCY" val="Wahr"/>
  <p:tag name="FILENAME" val=""/>
  <p:tag name="LATEXENGINEID" val="0"/>
  <p:tag name="TEMPFOLDER" val="U:\BesprechungUni\09_21 Besprechung\"/>
  <p:tag name="LATEXFORMHEIGHT" val="312"/>
  <p:tag name="LATEXFORMWIDTH" val="384"/>
  <p:tag name="LATEXFORMWRAP" val="Wahr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02,9621"/>
  <p:tag name="ORIGINALWIDTH" val="944,132"/>
  <p:tag name="LATEXADDIN" val="\documentclass{article}&#10;\usepackage{amsmath}&#10;\pagestyle{empty}&#10;\begin{document}&#10;&#10;$N_{crit}= \dfrac{FIP_{crit}}{\Delta FIP^{*}_{cyc}}$&#10;&#10;&#10;\end{document}"/>
  <p:tag name="IGUANATEXSIZE" val="14"/>
  <p:tag name="IGUANATEXCURSOR" val="124"/>
  <p:tag name="TRANSPARENCY" val="Wahr"/>
  <p:tag name="FILENAME" val=""/>
  <p:tag name="LATEXENGINEID" val="0"/>
  <p:tag name="TEMPFOLDER" val="U:\BesprechungUni\09_21 Besprechung\"/>
  <p:tag name="LATEXFORMHEIGHT" val="312"/>
  <p:tag name="LATEXFORMWIDTH" val="384"/>
  <p:tag name="LATEXFORMWRAP" val="Wahr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4,237"/>
  <p:tag name="ORIGINALWIDTH" val="399,7"/>
  <p:tag name="LATEXADDIN" val="\documentclass{article}&#10;\usepackage{amsmath}&#10;\pagestyle{empty}&#10;\begin{document}&#10;&#10;$FIP_{crit}$&#10;&#10;&#10;\end{document}"/>
  <p:tag name="IGUANATEXSIZE" val="14"/>
  <p:tag name="IGUANATEXCURSOR" val="92"/>
  <p:tag name="TRANSPARENCY" val="Wahr"/>
  <p:tag name="FILENAME" val=""/>
  <p:tag name="LATEXENGINEID" val="0"/>
  <p:tag name="TEMPFOLDER" val="U:\BesprechungUni\09_21 Besprechung\"/>
  <p:tag name="LATEXFORMHEIGHT" val="312"/>
  <p:tag name="LATEXFORMWIDTH" val="384"/>
  <p:tag name="LATEXFORMWRAP" val="Wahr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0,2287"/>
  <p:tag name="ORIGINALWIDTH" val="1595,051"/>
  <p:tag name="LATEXADDIN" val="\documentclass{article}&#10;\usepackage{amsmath}&#10;\pagestyle{empty}&#10;\begin{document}&#10;&#10;$FIP_{crit} = N_{i}^{\dagger}\cdot \Delta FIP_{cyc}^{*}(\varepsilon_{a,t}^{\dagger})$&#10;&#10;&#10;\end{document}"/>
  <p:tag name="IGUANATEXSIZE" val="20"/>
  <p:tag name="IGUANATEXCURSOR" val="165"/>
  <p:tag name="TRANSPARENCY" val="Wahr"/>
  <p:tag name="FILENAME" val=""/>
  <p:tag name="LATEXENGINEID" val="0"/>
  <p:tag name="TEMPFOLDER" val="U:\BesprechungUni\09_21 Besprechung\"/>
  <p:tag name="LATEXFORMHEIGHT" val="312"/>
  <p:tag name="LATEXFORMWIDTH" val="384"/>
  <p:tag name="LATEXFORMWRAP" val="Wahr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28,459"/>
  <p:tag name="ORIGINALWIDTH" val="1962,505"/>
  <p:tag name="LATEXADDIN" val="\documentclass{article}&#10;\usepackage{amsmath}&#10;\pagestyle{empty}&#10;\begin{document}&#10;&#10;$FIP_{cyc,p}(\underline{x})=\int\limits_{Anfang Zyklus}^{Ende Zyklus}|\dot{\varepsilon}_{p}(\underline{x})|d t$&#10;&#10;&#10;\end{document}"/>
  <p:tag name="IGUANATEXSIZE" val="14"/>
  <p:tag name="IGUANATEXCURSOR" val="120"/>
  <p:tag name="TRANSPARENCY" val="Wahr"/>
  <p:tag name="FILENAME" val=""/>
  <p:tag name="LATEXENGINEID" val="0"/>
  <p:tag name="TEMPFOLDER" val="U:\BesprechungUni\09_21 Besprechung\"/>
  <p:tag name="LATEXFORMHEIGHT" val="312"/>
  <p:tag name="LATEXFORMWIDTH" val="384"/>
  <p:tag name="LATEXFORMWRAP" val="Wahr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28,459"/>
  <p:tag name="ORIGINALWIDTH" val="2494,938"/>
  <p:tag name="LATEXADDIN" val="\documentclass{article}&#10;\usepackage{amsmath}&#10;\pagestyle{empty}&#10;\begin{document}&#10;&#10;$FIP_{cyc,W}(\underline{x})=\sum\limits_{\alpha = 1}^{12}\int\limits_{Anfang Zyklus}^{Ende Zyklus}\tau^{\alpha}(\underline{x})\dot{\gamma}{^\alpha}(\underline{x})dt$&#10;&#10;&#10;\end{document}"/>
  <p:tag name="IGUANATEXSIZE" val="20"/>
  <p:tag name="IGUANATEXCURSOR" val="149"/>
  <p:tag name="TRANSPARENCY" val="Wahr"/>
  <p:tag name="FILENAME" val=""/>
  <p:tag name="LATEXENGINEID" val="0"/>
  <p:tag name="TEMPFOLDER" val="U:\BesprechungUni\09_21 Besprechung\"/>
  <p:tag name="LATEXFORMHEIGHT" val="312"/>
  <p:tag name="LATEXFORMWIDTH" val="384"/>
  <p:tag name="LATEXFORMWRAP" val="Wahr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10,4612"/>
  <p:tag name="ORIGINALWIDTH" val="2667,417"/>
  <p:tag name="LATEXADDIN" val="\documentclass{article}&#10;\usepackage{amsmath}&#10;\pagestyle{empty}&#10;\begin{document}&#10;&#10;&#10;$FIP_{cyc,FS}(\underline{x})=\max\limits_{\alpha = 1 ... 12}\left[\dfrac{\Delta\gamma_{p}^{\alpha}(\underline{x})}{2}\left(1+k\dfrac{\sigma_{n}^{\alpha}(\underline{x})}{\tau_{c,0}}\right)\right]$&#10;&#10;&#10;&#10;\end{document}"/>
  <p:tag name="IGUANATEXSIZE" val="20"/>
  <p:tag name="IGUANATEXCURSOR" val="268"/>
  <p:tag name="TRANSPARENCY" val="Wahr"/>
  <p:tag name="FILENAME" val=""/>
  <p:tag name="LATEXENGINEID" val="0"/>
  <p:tag name="TEMPFOLDER" val="U:\BesprechungUni\09_21 Besprechung\"/>
  <p:tag name="LATEXFORMHEIGHT" val="312"/>
  <p:tag name="LATEXFORMWIDTH" val="384"/>
  <p:tag name="LATEXFORMWRAP" val="Wahr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(x_1, x_2, \ldots, x_K) \in Y^K$&#10;&#10;\end{document}"/>
  <p:tag name="IGUANATEXSIZE" val="16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D_i = \left\{ x\in Y \, \middle| \, d(x,x_i) \le d(x,x_j) \quad \text{for} \quad j\in \{1,2,\ldots,K\}\backslash \{i\} \right\}$&#10;&#10;&#10;\end{document}"/>
  <p:tag name="IGUANATEXSIZE" val="16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d(x, x_i) = ||x-x_i||$&#10;&#10;&#10;\end{document}"/>
  <p:tag name="IGUANATEXSIZE" val="16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d(x, x_i) = ||x-x_i||^2 - w_i$&#10;&#10;&#10;\end{document}"/>
  <p:tag name="IGUANATEXSIZE" val="16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\bigcup_{i=1}^K D_i = Y $&#10;&#10;&#10;\end{document}"/>
  <p:tag name="IGUANATEXSIZE" val="16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dsfont}&#10;\pagestyle{empty}&#10;\begin{document}&#10;&#10;$Y = [0, L_1)\times[0, L_2)\times[0, L_3 )$&#10;&#10;\end{document}"/>
  <p:tag name="IGUANATEXSIZE" val="16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dsfont}&#10;\pagestyle{empty}&#10;\begin{document}&#10;&#10;$Y = [0, L_1)\times[0, L_2)\times[0, L_3 )$&#10;&#10;\end{document}"/>
  <p:tag name="IGUANATEXSIZE" val="16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(x_1, x_2, \ldots, x_K) \in Y^K$&#10;&#10;\end{document}"/>
  <p:tag name="IGUANATEXSIZE" val="16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dsfont}&#10;\pagestyle{empty}&#10;\begin{document}&#10;&#10;$(\phi_1, \phi_2, \ldots, \phi_K) \in \mathds{R}_{&gt; 0}^K$&#10;&#10;\end{document}"/>
  <p:tag name="IGUANATEXSIZE" val="16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dsfont}&#10;\pagestyle{empty}&#10;\begin{document}&#10;&#10;$\sum_{k=1}^K \phi_k = 1$&#10;&#10;\end{document}"/>
  <p:tag name="IGUANATEXSIZE" val="16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dsfont}&#10;\pagestyle{empty}&#10;\begin{document}&#10;&#10;$w \mapsto \sum_{i=1}^K -\left( \phi_i \cdot L_1 L_2 \cdots L_d - |D_i| \right)w_i - \sum_{i=1}^K \int_{D_i} d(x,x_i)^2\, dx$&#10;&#10;\end{document}"/>
  <p:tag name="IGUANATEXSIZE" val="16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dsfont}&#10;\pagestyle{empty}&#10;\begin{document}&#10;&#10;$f: W_K \rightarrow \mathds{R}$&#10;&#10;\end{document}"/>
  <p:tag name="IGUANATEXSIZE" val="16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dsfont}&#10;\pagestyle{empty}&#10;\begin{document}&#10;&#10;$\nabla_i f(w) = -\phi_i\cdot L_1\cdot L_2\cdot L_3  + \left|D_i\right|$&#10;&#10;\end{document}"/>
  <p:tag name="IGUANATEXSIZE" val="16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dsfont}&#10;\pagestyle{empty}&#10;\begin{document}&#10;&#10;$|D_i| / |Y| = \phi_i$&#10;&#10;\end{document}"/>
  <p:tag name="IGUANATEXSIZE" val="16"/>
</p:tagLst>
</file>

<file path=ppt/theme/theme1.xml><?xml version="1.0" encoding="utf-8"?>
<a:theme xmlns:a="http://schemas.openxmlformats.org/drawingml/2006/main" name="Bosch NG">
  <a:themeElements>
    <a:clrScheme name="Bosch Blau">
      <a:dk1>
        <a:sysClr val="windowText" lastClr="000000"/>
      </a:dk1>
      <a:lt1>
        <a:sysClr val="window" lastClr="FFFFFF"/>
      </a:lt1>
      <a:dk2>
        <a:srgbClr val="424C58"/>
      </a:dk2>
      <a:lt2>
        <a:srgbClr val="B2B3B5"/>
      </a:lt2>
      <a:accent1>
        <a:srgbClr val="007BC0"/>
      </a:accent1>
      <a:accent2>
        <a:srgbClr val="004975"/>
      </a:accent2>
      <a:accent3>
        <a:srgbClr val="007BC0"/>
      </a:accent3>
      <a:accent4>
        <a:srgbClr val="004975"/>
      </a:accent4>
      <a:accent5>
        <a:srgbClr val="007BC0"/>
      </a:accent5>
      <a:accent6>
        <a:srgbClr val="004975"/>
      </a:accent6>
      <a:hlink>
        <a:srgbClr val="738CB4"/>
      </a:hlink>
      <a:folHlink>
        <a:srgbClr val="B0BBD0"/>
      </a:folHlink>
    </a:clrScheme>
    <a:fontScheme name="Bosch">
      <a:majorFont>
        <a:latin typeface="Bosch Office Sans"/>
        <a:ea typeface=""/>
        <a:cs typeface=""/>
      </a:majorFont>
      <a:minorFont>
        <a:latin typeface="Bosch Office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9525" cap="flat" cmpd="sng" algn="ctr">
          <a:solidFill>
            <a:srgbClr val="3F136C"/>
          </a:solidFill>
          <a:prstDash val="solid"/>
        </a:ln>
        <a:effectLst/>
      </a:spPr>
      <a:bodyPr rtlCol="0" anchor="ctr"/>
      <a:lstStyle>
        <a:defPPr marL="0" marR="0" indent="0" algn="ctr" defTabSz="91440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0" cap="none" spc="0" normalizeH="0" baseline="0" noProof="0" dirty="0" smtClean="0">
            <a:ln>
              <a:noFill/>
            </a:ln>
            <a:solidFill>
              <a:srgbClr val="000000"/>
            </a:solidFill>
            <a:effectLst/>
            <a:uLnTx/>
            <a:uFillTx/>
            <a:latin typeface="Bosch Office Sans"/>
            <a:ea typeface="+mn-ea"/>
            <a:cs typeface="+mn-cs"/>
          </a:defRPr>
        </a:defPPr>
      </a:lstStyle>
    </a:spDef>
    <a:txDef>
      <a:spPr>
        <a:noFill/>
      </a:spPr>
      <a:bodyPr wrap="square" lIns="0" tIns="0" rIns="0" bIns="0" rtlCol="0">
        <a:noAutofit/>
      </a:bodyPr>
      <a:lstStyle>
        <a:defPPr marR="0" algn="l" defTabSz="914400" eaLnBrk="1" fontAlgn="auto" latinLnBrk="0" hangingPunct="1">
          <a:spcBef>
            <a:spcPts val="50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0" cap="none" spc="0" normalizeH="0" baseline="0" noProof="0" smtClean="0">
            <a:ln>
              <a:noFill/>
            </a:ln>
            <a:solidFill>
              <a:srgbClr val="000000"/>
            </a:solidFill>
            <a:effectLst/>
            <a:uLnTx/>
            <a:uFillTx/>
          </a:defRPr>
        </a:defPPr>
      </a:lstStyle>
    </a:txDef>
  </a:objectDefaults>
  <a:extraClrSchemeLst/>
  <a:custClrLst>
    <a:custClr name="Bosch Red 50">
      <a:srgbClr val="ED0007"/>
    </a:custClr>
    <a:custClr name="Bosch Purple 40">
      <a:srgbClr val="9E2896"/>
    </a:custClr>
    <a:custClr name="Bosch Purple 20">
      <a:srgbClr val="551151"/>
    </a:custClr>
    <a:custClr name="Bosch Blue 50">
      <a:srgbClr val="007BC0"/>
    </a:custClr>
    <a:custClr name="Bosch Blue 30">
      <a:srgbClr val="004975"/>
    </a:custClr>
    <a:custClr name="Bosch Turquoise 50">
      <a:srgbClr val="18837E"/>
    </a:custClr>
    <a:custClr name="Bosch Turquoise 30">
      <a:srgbClr val="0A4F4B"/>
    </a:custClr>
    <a:custClr name="Bosch Green 50">
      <a:srgbClr val="00884A"/>
    </a:custClr>
    <a:custClr name="Bosch Green 30">
      <a:srgbClr val="00512A"/>
    </a:custClr>
    <a:custClr name="Bosch Gray 50">
      <a:srgbClr val="71767C"/>
    </a:custClr>
  </a:custClrLst>
  <a:extLst>
    <a:ext uri="{05A4C25C-085E-4340-85A3-A5531E510DB2}">
      <thm15:themeFamily xmlns:thm15="http://schemas.microsoft.com/office/thememl/2012/main" name="template1.potx" id="{52779E17-DA50-4443-9CCA-C57129DBFB53}" vid="{CBD1DA7C-47F9-4AE4-B1E4-E762B597D2F3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sax_Colors>
  <Line size="7">
    <Color val="9e2896" tooltip="Bosch Purple 40"/>
    <Color val="551151" tooltip="Bosch Purple 20"/>
  </Line>
  <Line size="7">
    <Color val="007bc0" tooltip="Bosch Blue 50"/>
    <Color val="004975" tooltip="Bosch Blue 30"/>
  </Line>
  <Line size="7">
    <Color val="18837e" tooltip="Bosch Turquoise 50"/>
    <Color val="0a4f4b" tooltip="Bosch Turquoise 30"/>
  </Line>
  <Line size="7">
    <Color val="00884a" tooltip="Bosch Green 50"/>
    <Color val="00512a" tooltip="Bosch Green 30"/>
  </Line>
</sax_Colors>
</file>

<file path=customXml/item2.xml><?xml version="1.0" encoding="utf-8"?>
<saxML>
  <saxMLTemplate>presentation_169</saxMLTemplate>
  <Variablen>
    <Variable>
      <Name>attachmentremark</Name>
      <OrgInhalt/>
      <Wert/>
      <Platzhalter>False</Platzhalter>
      <DocDatenDialog>True</DocDatenDialog>
      <Label>Anlagenvermerk</Label>
      <FrageVar>False</FrageVar>
      <Prefix/>
      <Suffix/>
      <WegfallVar/>
      <MussFeld>False</MussFeld>
      <InDokument>True</InDokument>
      <Sektion>Rectangle7</Sektion>
      <Reihenfolge>0</Reihenfolge>
    </Variable>
    <Variable>
      <Name>departmentshort</Name>
      <OrgInhalt>CR/AMP3</OrgInhalt>
      <Wert>CR/AMP3</Wert>
      <Platzhalter>False</Platzhalter>
      <DocDatenDialog>True</DocDatenDialog>
      <Label>Urhebervermerk</Label>
      <FrageVar>False</FrageVar>
      <Prefix/>
      <Suffix/>
      <WegfallVar/>
      <MussFeld>False</MussFeld>
      <Trenner>
        <VariableVor>confidentiality</VariableVor>
        <VariableVor>businessunit</VariableVor>
        <Zwischen> | </Zwischen>
        <VariableNach>departmentshort</VariableNach>
      </Trenner>
      <InDokument>True</InDokument>
      <Sektion>Bosch_footer_1</Sektion>
      <Reihenfolge/>
    </Variable>
    <Variable>
      <Name>confidentiality</Name>
      <OrgInhalt>Intern</OrgInhalt>
      <Wert>Intern</Wert>
      <Platzhalter>False</Platzhalter>
      <DocDatenDialog>True</DocDatenDialog>
      <Label>Vertraulichkeitsvermerk</Label>
      <FrageVar>False</FrageVar>
      <Prefix/>
      <Suffix/>
      <WegfallVar/>
      <ComboBox>
        <Option>Intern</Option>
        <Option>Vertraulich</Option>
        <Option>Streng vertraulich</Option>
        <Option/>
      </ComboBox>
      <MussFeld>False</MussFeld>
      <InDokument>True</InDokument>
      <Sektion>Bosch_footer_1</Sektion>
      <Reihenfolge>0</Reihenfolge>
    </Variable>
    <Variable>
      <Name>copyright</Name>
      <OrgInhalt>© Robert Bosch GmbH 2021. Alle Rechte vorbehalten, auch bzgl. jeder Verfügung, Verwertung, Reproduktion, Bearbeitung, Weitergabe sowie für den Fall von Schutzrechtsanmeldungen.</OrgInhalt>
      <Wert>© Robert Bosch GmbH 2021. Alle Rechte vorbehalten, auch bzgl. jeder Verfügung, Verwertung, Reproduktion, Bearbeitung, Weitergabe sowie für den Fall von Schutzrechtsanmeldungen.</Wert>
      <Platzhalter>False</Platzhalter>
      <DocDatenDialog>False</DocDatenDialog>
      <Label>$tr_copyright$</Label>
      <FrageVar>False</FrageVar>
      <Prefix/>
      <Suffix/>
      <WegfallVar/>
      <MussFeld>False</MussFeld>
      <Trenner>
        <VariableVor>repositoryremark</VariableVor>
        <Zwischen>&lt;br&gt;</Zwischen>
        <VariableNach>copyright</VariableNach>
      </Trenner>
      <InDokument>True</InDokument>
      <Sektion>Bosch_footer_2</Sektion>
      <Reihenfolge/>
    </Variable>
    <Variable>
      <Name>dateformat</Name>
      <OrgInhalt>31.08.2021</OrgInhalt>
      <Wert>31.08.2021</Wert>
      <Platzhalter>False</Platzhalter>
      <DocDatenDialog>True</DocDatenDialog>
      <Label>Datum</Label>
      <FrageVar>False</FrageVar>
      <Prefix/>
      <Suffix/>
      <WegfallVar/>
      <MussFeld>False</MussFeld>
      <Trenner>
        <VariableVor>departmentshort</VariableVor>
        <VariableVor>confidentiality</VariableVor>
        <VariableVor>businessunit</VariableVor>
        <Zwischen> | </Zwischen>
        <VariableNach>dateformat</VariableNach>
      </Trenner>
      <InDokument>True</InDokument>
      <Sektion>Bosch_footer_1</Sektion>
      <Reihenfolge>0</Reihenfolge>
    </Variable>
    <Variable>
      <Name>businessunit</Name>
      <OrgInhalt/>
      <Wert/>
      <Platzhalter>False</Platzhalter>
      <DocDatenDialog>False</DocDatenDialog>
      <Label>$tr_businessunit$</Label>
      <FrageVar>False</FrageVar>
      <Prefix/>
      <Suffix/>
      <WegfallVar/>
      <MussFeld>False</MussFeld>
      <Trenner>
        <VariableVor>confidentiality</VariableVor>
        <Zwischen> | </Zwischen>
        <VariableNach>businessunit</VariableNach>
      </Trenner>
      <InDokument>True</InDokument>
      <Sektion>Bosch_footer_1</Sektion>
      <Reihenfolge>0</Reihenfolge>
    </Variable>
    <Variable>
      <Name>repositoryremark</Name>
      <OrgInhalt/>
      <Wert/>
      <Platzhalter>False</Platzhalter>
      <DocDatenDialog>True</DocDatenDialog>
      <Label>Ablagevermerk</Label>
      <FrageVar>False</FrageVar>
      <Prefix/>
      <Suffix/>
      <WegfallVar/>
      <MussFeld>False</MussFeld>
      <InDokument>True</InDokument>
      <Sektion>Bosch_footer_2</Sektion>
      <Reihenfolge>0</Reihenfolge>
    </Variable>
  </Variablen>
</saxML>
</file>

<file path=customXml/itemProps1.xml><?xml version="1.0" encoding="utf-8"?>
<ds:datastoreItem xmlns:ds="http://schemas.openxmlformats.org/officeDocument/2006/customXml" ds:itemID="{D0252559-44F8-474C-B66D-E357B88E32C2}">
  <ds:schemaRefs/>
</ds:datastoreItem>
</file>

<file path=customXml/itemProps2.xml><?xml version="1.0" encoding="utf-8"?>
<ds:datastoreItem xmlns:ds="http://schemas.openxmlformats.org/officeDocument/2006/customXml" ds:itemID="{711C73FA-D7ED-4DCA-8224-6BEF144D25D3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presentation_169_1</Template>
  <TotalTime>0</TotalTime>
  <Words>650</Words>
  <Application>Microsoft Office PowerPoint</Application>
  <PresentationFormat>Benutzerdefiniert</PresentationFormat>
  <Paragraphs>142</Paragraphs>
  <Slides>10</Slides>
  <Notes>4</Notes>
  <HiddenSlides>1</HiddenSlides>
  <MMClips>2</MMClips>
  <ScaleCrop>false</ScaleCrop>
  <HeadingPairs>
    <vt:vector size="8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6" baseType="lpstr">
      <vt:lpstr>Bosch Office Sans</vt:lpstr>
      <vt:lpstr>Calibri</vt:lpstr>
      <vt:lpstr>Cambria Math</vt:lpstr>
      <vt:lpstr>Wingdings 3</vt:lpstr>
      <vt:lpstr>Bosch NG</vt:lpstr>
      <vt:lpstr>Acrobat Document</vt:lpstr>
      <vt:lpstr>Micromechanical Fatigue Simulation : Phase influence Analysis 02.09.2021 – Update zum Status Masterarbeit von Roman Hofmann</vt:lpstr>
      <vt:lpstr>PowerPoint-Präsentation</vt:lpstr>
      <vt:lpstr>August 2021 – Was wurde gemacht</vt:lpstr>
      <vt:lpstr>Kristallplastizität</vt:lpstr>
      <vt:lpstr>Fatigue Indicator Parameter (FIP) </vt:lpstr>
      <vt:lpstr>Geometric representations of polycrystalline materials</vt:lpstr>
      <vt:lpstr>Laguerre tessellations (Mikrostrukturgenerierung)</vt:lpstr>
      <vt:lpstr>Aufbau Grundlagenteil </vt:lpstr>
      <vt:lpstr>September 2021</vt:lpstr>
      <vt:lpstr>Roadmap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Micromechanical Fatigue Simulation : Phase influence Analysis 02.09.2021 – Update zum Status Masterarbeit von Roman Hofmann</dc:title>
  <dc:creator>FIXED-TERM Hofmann Roman (CR/AMP3)</dc:creator>
  <cp:lastModifiedBy>FIXED-TERM Hofmann Roman (CR/AMP3)</cp:lastModifiedBy>
  <cp:revision>37</cp:revision>
  <dcterms:created xsi:type="dcterms:W3CDTF">2021-08-31T07:13:43Z</dcterms:created>
  <dcterms:modified xsi:type="dcterms:W3CDTF">2021-09-02T07:53:22Z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ttachmentremark">
    <vt:lpwstr>$attachmentremark$</vt:lpwstr>
  </property>
  <property fmtid="{D5CDD505-2E9C-101B-9397-08002B2CF9AE}" pid="3" name="confidentiality">
    <vt:lpwstr>$confidentiality_internal$</vt:lpwstr>
  </property>
  <property fmtid="{D5CDD505-2E9C-101B-9397-08002B2CF9AE}" pid="4" name="copyright">
    <vt:lpwstr>$copyright$</vt:lpwstr>
  </property>
  <property fmtid="{D5CDD505-2E9C-101B-9397-08002B2CF9AE}" pid="5" name="dateformat">
    <vt:lpwstr>$dateformat$</vt:lpwstr>
  </property>
  <property fmtid="{D5CDD505-2E9C-101B-9397-08002B2CF9AE}" pid="6" name="businessunit">
    <vt:lpwstr>$businessunit$</vt:lpwstr>
  </property>
  <property fmtid="{D5CDD505-2E9C-101B-9397-08002B2CF9AE}" pid="7" name="repositoryremark">
    <vt:lpwstr>$repositoryremark$</vt:lpwstr>
  </property>
</Properties>
</file>